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8"/>
  </p:notesMasterIdLst>
  <p:handoutMasterIdLst>
    <p:handoutMasterId r:id="rId49"/>
  </p:handoutMasterIdLst>
  <p:sldIdLst>
    <p:sldId id="256" r:id="rId2"/>
    <p:sldId id="426" r:id="rId3"/>
    <p:sldId id="428" r:id="rId4"/>
    <p:sldId id="427" r:id="rId5"/>
    <p:sldId id="429" r:id="rId6"/>
    <p:sldId id="430" r:id="rId7"/>
    <p:sldId id="468" r:id="rId8"/>
    <p:sldId id="469" r:id="rId9"/>
    <p:sldId id="470" r:id="rId10"/>
    <p:sldId id="432" r:id="rId11"/>
    <p:sldId id="471" r:id="rId12"/>
    <p:sldId id="472" r:id="rId13"/>
    <p:sldId id="473" r:id="rId14"/>
    <p:sldId id="474" r:id="rId15"/>
    <p:sldId id="475" r:id="rId16"/>
    <p:sldId id="476" r:id="rId17"/>
    <p:sldId id="477" r:id="rId18"/>
    <p:sldId id="478" r:id="rId19"/>
    <p:sldId id="479" r:id="rId20"/>
    <p:sldId id="480" r:id="rId21"/>
    <p:sldId id="481" r:id="rId22"/>
    <p:sldId id="482" r:id="rId23"/>
    <p:sldId id="483" r:id="rId24"/>
    <p:sldId id="484" r:id="rId25"/>
    <p:sldId id="485" r:id="rId26"/>
    <p:sldId id="486" r:id="rId27"/>
    <p:sldId id="487" r:id="rId28"/>
    <p:sldId id="488" r:id="rId29"/>
    <p:sldId id="489" r:id="rId30"/>
    <p:sldId id="490" r:id="rId31"/>
    <p:sldId id="502" r:id="rId32"/>
    <p:sldId id="503" r:id="rId33"/>
    <p:sldId id="504" r:id="rId34"/>
    <p:sldId id="491" r:id="rId35"/>
    <p:sldId id="492" r:id="rId36"/>
    <p:sldId id="493" r:id="rId37"/>
    <p:sldId id="494" r:id="rId38"/>
    <p:sldId id="495" r:id="rId39"/>
    <p:sldId id="496" r:id="rId40"/>
    <p:sldId id="497" r:id="rId41"/>
    <p:sldId id="498" r:id="rId42"/>
    <p:sldId id="499" r:id="rId43"/>
    <p:sldId id="500" r:id="rId44"/>
    <p:sldId id="439" r:id="rId45"/>
    <p:sldId id="440" r:id="rId46"/>
    <p:sldId id="293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61" autoAdjust="0"/>
    <p:restoredTop sz="94885" autoAdjust="0"/>
  </p:normalViewPr>
  <p:slideViewPr>
    <p:cSldViewPr>
      <p:cViewPr varScale="1">
        <p:scale>
          <a:sx n="64" d="100"/>
          <a:sy n="64" d="100"/>
        </p:scale>
        <p:origin x="1092" y="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40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FF0000"/>
                </a:solidFill>
                <a:latin typeface="Tw Cen MT" pitchFamily="34" charset="0"/>
                <a:ea typeface="+mj-ea"/>
                <a:cs typeface="+mj-cs"/>
              </a:rPr>
              <a:t>DBMS Cornerstone Project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3200" dirty="0">
                <a:solidFill>
                  <a:srgbClr val="002060"/>
                </a:solidFill>
                <a:latin typeface="Tw Cen MT" pitchFamily="34" charset="0"/>
                <a:ea typeface="+mj-ea"/>
                <a:cs typeface="+mj-cs"/>
              </a:rPr>
              <a:t>Inventory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 Management System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</a:br>
            <a:r>
              <a:rPr lang="en-IN" sz="2000" b="1" dirty="0"/>
              <a:t>Automated Stock Tracking &amp; Purchase/Sales Management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itchFamily="34" charset="0"/>
              <a:ea typeface="+mj-ea"/>
              <a:cs typeface="+mj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-960784" y="5426231"/>
            <a:ext cx="6440250" cy="1417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IN" dirty="0"/>
              <a:t>Kishore Pandiyan SureshKumar</a:t>
            </a:r>
            <a:r>
              <a:rPr lang="en-US" sz="1600" dirty="0">
                <a:solidFill>
                  <a:srgbClr val="002060"/>
                </a:solidFill>
                <a:latin typeface="Tw Cen MT" pitchFamily="34" charset="0"/>
              </a:rPr>
              <a:t>·  25B11CS433</a:t>
            </a:r>
          </a:p>
          <a:p>
            <a:pPr lvl="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IN" dirty="0"/>
              <a:t>Siripurapu Kusuma Kumar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·  </a:t>
            </a:r>
            <a:r>
              <a:rPr lang="en-IN" dirty="0"/>
              <a:t>25B11CS905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w Cen MT" pitchFamily="34" charset="0"/>
              <a:ea typeface="+mn-ea"/>
              <a:cs typeface="+mn-cs"/>
            </a:endParaRPr>
          </a:p>
          <a:p>
            <a:pPr lvl="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L . Siva Ganesh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·  25B11CS519</a:t>
            </a:r>
            <a:endParaRPr lang="en-US" sz="1600" dirty="0">
              <a:solidFill>
                <a:srgbClr val="002060"/>
              </a:solidFill>
              <a:latin typeface="Tw Cen MT" pitchFamily="34" charset="0"/>
            </a:endParaRPr>
          </a:p>
          <a:p>
            <a:pPr lvl="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IN" dirty="0"/>
              <a:t>Panashe Ncube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·  25B11CSA72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04FD2-AA6A-0D83-1E31-05221C1491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3717032"/>
            <a:ext cx="4303904" cy="28783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423592" y="980728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2476"/>
            <a:ext cx="10515600" cy="4531419"/>
          </a:xfrm>
        </p:spPr>
        <p:txBody>
          <a:bodyPr>
            <a:normAutofit/>
          </a:bodyPr>
          <a:lstStyle/>
          <a:p>
            <a:r>
              <a:rPr lang="en-IN" sz="2400" dirty="0"/>
              <a:t>Problem statement &amp; requirement analysis</a:t>
            </a:r>
          </a:p>
          <a:p>
            <a:r>
              <a:rPr lang="en-IN" sz="2400" dirty="0"/>
              <a:t>Objectives</a:t>
            </a:r>
          </a:p>
          <a:p>
            <a:r>
              <a:rPr lang="en-IN" sz="2400" dirty="0"/>
              <a:t>Functional &amp; non-functional requirements</a:t>
            </a:r>
          </a:p>
          <a:p>
            <a:r>
              <a:rPr lang="en-IN" sz="2400" dirty="0"/>
              <a:t>End users</a:t>
            </a:r>
          </a:p>
          <a:p>
            <a:r>
              <a:rPr lang="en-IN" sz="2400" dirty="0"/>
              <a:t>ER design — entities, attributes, keys</a:t>
            </a:r>
          </a:p>
          <a:p>
            <a:r>
              <a:rPr lang="en-IN" sz="2400" dirty="0"/>
              <a:t>Relationships &amp; cardinality</a:t>
            </a:r>
          </a:p>
          <a:p>
            <a:r>
              <a:rPr lang="en-IN" sz="2400" dirty="0"/>
              <a:t>Normalization — 1NF, 2NF, 3NF</a:t>
            </a:r>
          </a:p>
          <a:p>
            <a:r>
              <a:rPr lang="en-IN" sz="2400" dirty="0"/>
              <a:t>SQL implementation — DDL, data &amp; queries</a:t>
            </a:r>
          </a:p>
          <a:p>
            <a:pPr marL="0" indent="0">
              <a:buNone/>
            </a:pPr>
            <a:r>
              <a:rPr lang="en-IN" sz="2400" dirty="0"/>
              <a:t>  </a:t>
            </a: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200000" y="116632"/>
            <a:ext cx="97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Why This Project Is Needed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085" y="2000000"/>
            <a:ext cx="10515600" cy="4093295"/>
          </a:xfrm>
        </p:spPr>
        <p:txBody>
          <a:bodyPr>
            <a:normAutofit/>
          </a:bodyPr>
          <a:lstStyle/>
          <a:p>
            <a:r>
              <a:rPr lang="en-IN" sz="2000" dirty="0"/>
              <a:t>Manual inventory systems don’t scale as product quantity increases.</a:t>
            </a:r>
          </a:p>
          <a:p>
            <a:r>
              <a:rPr lang="en-IN" sz="2000" dirty="0"/>
              <a:t>A centralized database reduces duplicate and inconsistent records.</a:t>
            </a:r>
          </a:p>
          <a:p>
            <a:r>
              <a:rPr lang="en-IN" sz="2000" dirty="0"/>
              <a:t>Primary keys and foreign keys maintain relationships between inventory data.</a:t>
            </a:r>
          </a:p>
          <a:p>
            <a:r>
              <a:rPr lang="en-IN" sz="2000" dirty="0"/>
              <a:t>Provides administrators with a </a:t>
            </a:r>
            <a:r>
              <a:rPr lang="en-IN" sz="2000" dirty="0" err="1"/>
              <a:t>queryable</a:t>
            </a:r>
            <a:r>
              <a:rPr lang="en-IN" sz="2000" dirty="0"/>
              <a:t> view of products, stock, purchases and sales.</a:t>
            </a:r>
          </a:p>
          <a:p>
            <a:r>
              <a:rPr lang="en-IN" sz="2000" dirty="0"/>
              <a:t>Makes inventory transactions easier to track and audit.</a:t>
            </a:r>
          </a:p>
          <a:p>
            <a:r>
              <a:rPr lang="en-IN" sz="2000" dirty="0"/>
              <a:t>Helps identify low-stock products before they run out.</a:t>
            </a: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869085" y="950000"/>
            <a:ext cx="105156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800" i="1" dirty="0">
                <a:solidFill>
                  <a:srgbClr val="595959"/>
                </a:solidFill>
              </a:rPr>
              <a:t>Justification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200000" y="116632"/>
            <a:ext cx="97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The Real-World 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085" y="2000000"/>
            <a:ext cx="10515600" cy="4093295"/>
          </a:xfrm>
        </p:spPr>
        <p:txBody>
          <a:bodyPr>
            <a:normAutofit/>
          </a:bodyPr>
          <a:lstStyle/>
          <a:p>
            <a:r>
              <a:rPr lang="en-IN" sz="2000" b="1" dirty="0"/>
              <a:t>Stock tracking errors</a:t>
            </a:r>
            <a:r>
              <a:rPr lang="en-IN" sz="2000" dirty="0"/>
              <a:t> — Manual records can result in incorrect stock quantities and outdated information.</a:t>
            </a:r>
          </a:p>
          <a:p>
            <a:r>
              <a:rPr lang="en-IN" sz="2000" b="1" dirty="0"/>
              <a:t>Overstocking &amp; stockouts</a:t>
            </a:r>
            <a:r>
              <a:rPr lang="en-IN" sz="2000" dirty="0"/>
              <a:t> — Without real-time stock monitoring, products may be over-purchased or become unavailable.</a:t>
            </a:r>
          </a:p>
          <a:p>
            <a:r>
              <a:rPr lang="en-IN" sz="2000" b="1" dirty="0"/>
              <a:t>Delayed purchase/sales tracking</a:t>
            </a:r>
            <a:r>
              <a:rPr lang="en-IN" sz="2000" dirty="0"/>
              <a:t> — Transactions recorded manually make it difficult to know current inventory status.</a:t>
            </a:r>
          </a:p>
          <a:p>
            <a:r>
              <a:rPr lang="en-IN" sz="2000" b="1" dirty="0"/>
              <a:t>Supplier information gaps</a:t>
            </a:r>
            <a:r>
              <a:rPr lang="en-IN" sz="2000" dirty="0"/>
              <a:t> — Supplier details and purchase history may be scattered across different records.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485982" y="1045275"/>
            <a:ext cx="105156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b="1" dirty="0"/>
              <a:t>                                                                Why manual inventory management breaks down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Maintain a single record for every product.</a:t>
            </a:r>
          </a:p>
          <a:p>
            <a:r>
              <a:rPr lang="en-IN" sz="2400" dirty="0"/>
              <a:t>Track product quantity and availability.</a:t>
            </a:r>
          </a:p>
          <a:p>
            <a:r>
              <a:rPr lang="en-IN" sz="2400" dirty="0"/>
              <a:t>Manage supplier information.</a:t>
            </a:r>
          </a:p>
          <a:p>
            <a:r>
              <a:rPr lang="en-IN" sz="2400" dirty="0"/>
              <a:t>Record sales transactions.</a:t>
            </a:r>
          </a:p>
          <a:p>
            <a:r>
              <a:rPr lang="en-IN" sz="2400" dirty="0"/>
              <a:t>Identify low-stock products.</a:t>
            </a:r>
          </a:p>
          <a:p>
            <a:r>
              <a:rPr lang="en-IN" sz="2400" dirty="0"/>
              <a:t>Normalize the database to </a:t>
            </a:r>
            <a:r>
              <a:rPr lang="en-IN" sz="2400" b="1" dirty="0"/>
              <a:t>3NF</a:t>
            </a:r>
            <a:r>
              <a:rPr lang="en-IN" sz="2400" dirty="0"/>
              <a:t>.</a:t>
            </a:r>
          </a:p>
          <a:p>
            <a:r>
              <a:rPr lang="en-IN" sz="2400" dirty="0"/>
              <a:t>Use SQL queries, joins and aggregates for reporting.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Requirements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61876"/>
            <a:ext cx="5334000" cy="4531419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Functional</a:t>
            </a:r>
          </a:p>
          <a:p>
            <a:r>
              <a:rPr lang="en-IN" sz="1800" dirty="0"/>
              <a:t>Add, update and search products.</a:t>
            </a:r>
          </a:p>
          <a:p>
            <a:r>
              <a:rPr lang="en-IN" sz="1800" dirty="0"/>
              <a:t>Manage categories and suppliers.</a:t>
            </a:r>
          </a:p>
          <a:p>
            <a:r>
              <a:rPr lang="en-IN" sz="1800" dirty="0"/>
              <a:t>Check product availability.</a:t>
            </a:r>
          </a:p>
          <a:p>
            <a:r>
              <a:rPr lang="en-IN" sz="1800" dirty="0"/>
              <a:t>Generate inventory reports.</a:t>
            </a:r>
          </a:p>
          <a:p>
            <a:r>
              <a:rPr lang="en-IN" sz="1800" dirty="0"/>
              <a:t>Identify low-stock products.</a:t>
            </a:r>
          </a:p>
          <a:p>
            <a:r>
              <a:rPr lang="en-IN" sz="1800" dirty="0"/>
              <a:t>View transaction history.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21" name="Non-functional Box"/>
          <p:cNvSpPr txBox="1">
            <a:spLocks/>
          </p:cNvSpPr>
          <p:nvPr/>
        </p:nvSpPr>
        <p:spPr>
          <a:xfrm>
            <a:off x="6172200" y="1561876"/>
            <a:ext cx="5334000" cy="45314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Non-functional</a:t>
            </a:r>
          </a:p>
          <a:p>
            <a:r>
              <a:rPr lang="en-IN" sz="1600" b="1" dirty="0"/>
              <a:t>Data integrity</a:t>
            </a:r>
            <a:r>
              <a:rPr lang="en-IN" sz="1600" dirty="0"/>
              <a:t> — PK, FK constraints.</a:t>
            </a:r>
          </a:p>
          <a:p>
            <a:r>
              <a:rPr lang="en-IN" sz="1600" b="1" dirty="0"/>
              <a:t>Security</a:t>
            </a:r>
            <a:r>
              <a:rPr lang="en-IN" sz="1600" dirty="0"/>
              <a:t> — Controlled access to inventory data.</a:t>
            </a:r>
          </a:p>
          <a:p>
            <a:r>
              <a:rPr lang="en-IN" sz="1600" b="1" dirty="0"/>
              <a:t>Reliability</a:t>
            </a:r>
            <a:r>
              <a:rPr lang="en-IN" sz="1600" dirty="0"/>
              <a:t> — Accurate transaction processing.</a:t>
            </a:r>
          </a:p>
          <a:p>
            <a:r>
              <a:rPr lang="en-IN" sz="1600" b="1" dirty="0"/>
              <a:t>Performance</a:t>
            </a:r>
            <a:r>
              <a:rPr lang="en-IN" sz="1600" dirty="0"/>
              <a:t> — Fast product and stock searches.</a:t>
            </a:r>
          </a:p>
          <a:p>
            <a:r>
              <a:rPr lang="en-IN" sz="1600" b="1" dirty="0"/>
              <a:t>Usability</a:t>
            </a:r>
            <a:r>
              <a:rPr lang="en-IN" sz="1600" dirty="0"/>
              <a:t> — Simple interface for staff.</a:t>
            </a:r>
          </a:p>
          <a:p>
            <a:r>
              <a:rPr lang="en-IN" sz="1600" b="1" dirty="0"/>
              <a:t>Scalability</a:t>
            </a:r>
            <a:r>
              <a:rPr lang="en-IN" sz="1600" dirty="0"/>
              <a:t> — Supports increasing products and transactions.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EFEA5-380A-8C7F-F5CA-80F122204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4B35BFD-4983-510A-8142-DB6685909C98}"/>
              </a:ext>
            </a:extLst>
          </p:cNvPr>
          <p:cNvSpPr txBox="1">
            <a:spLocks/>
          </p:cNvSpPr>
          <p:nvPr/>
        </p:nvSpPr>
        <p:spPr>
          <a:xfrm>
            <a:off x="3863752" y="116632"/>
            <a:ext cx="4643470" cy="14452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Relational Schema</a:t>
            </a:r>
          </a:p>
          <a:p>
            <a:pPr algn="ctr"/>
            <a:endParaRPr lang="en-IN" sz="3400" b="1" dirty="0">
              <a:solidFill>
                <a:srgbClr val="0070C0"/>
              </a:solidFill>
              <a:latin typeface="Maiandra GD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8B8030-2E03-6D06-4C79-9C7C01579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356" y="1572572"/>
            <a:ext cx="11593288" cy="470619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Category  (</a:t>
            </a:r>
            <a:r>
              <a:rPr lang="en-IN" u="sng" dirty="0" err="1"/>
              <a:t>Category_ID</a:t>
            </a:r>
            <a:r>
              <a:rPr lang="en-IN" dirty="0"/>
              <a:t>, </a:t>
            </a:r>
            <a:r>
              <a:rPr lang="en-IN" dirty="0" err="1"/>
              <a:t>Category_Name</a:t>
            </a:r>
            <a:r>
              <a:rPr lang="en-IN" dirty="0"/>
              <a:t>, Description)</a:t>
            </a:r>
          </a:p>
          <a:p>
            <a:pPr marL="0" indent="0">
              <a:buNone/>
            </a:pPr>
            <a:r>
              <a:rPr lang="en-IN" dirty="0"/>
              <a:t>Supplier  (</a:t>
            </a:r>
            <a:r>
              <a:rPr lang="en-IN" u="sng" dirty="0" err="1"/>
              <a:t>Supplier_ID</a:t>
            </a:r>
            <a:r>
              <a:rPr lang="en-IN" u="sng" dirty="0"/>
              <a:t>, </a:t>
            </a:r>
            <a:r>
              <a:rPr lang="en-IN" dirty="0" err="1"/>
              <a:t>Supplier_Name</a:t>
            </a:r>
            <a:r>
              <a:rPr lang="en-IN" dirty="0"/>
              <a:t>, </a:t>
            </a:r>
            <a:r>
              <a:rPr lang="en-IN" dirty="0" err="1"/>
              <a:t>Contact_NO</a:t>
            </a:r>
            <a:r>
              <a:rPr lang="en-IN" dirty="0"/>
              <a:t>, Email</a:t>
            </a:r>
            <a:r>
              <a:rPr lang="en-IN" u="sng" dirty="0"/>
              <a:t>)</a:t>
            </a:r>
          </a:p>
          <a:p>
            <a:pPr marL="0" indent="0">
              <a:buNone/>
            </a:pPr>
            <a:r>
              <a:rPr lang="en-IN" dirty="0"/>
              <a:t>Customer  (</a:t>
            </a:r>
            <a:r>
              <a:rPr lang="en-IN" u="sng" dirty="0" err="1"/>
              <a:t>Customer_ID</a:t>
            </a:r>
            <a:r>
              <a:rPr lang="en-IN" dirty="0"/>
              <a:t>, Name, </a:t>
            </a:r>
            <a:r>
              <a:rPr lang="en-IN" dirty="0" err="1"/>
              <a:t>Contact_No</a:t>
            </a:r>
            <a:r>
              <a:rPr lang="en-IN" dirty="0"/>
              <a:t>, Email)</a:t>
            </a:r>
          </a:p>
          <a:p>
            <a:pPr marL="0" indent="0">
              <a:buNone/>
            </a:pPr>
            <a:r>
              <a:rPr lang="en-IN" dirty="0"/>
              <a:t>Purchase  (</a:t>
            </a:r>
            <a:r>
              <a:rPr lang="en-IN" dirty="0" err="1"/>
              <a:t>Purchase_ID</a:t>
            </a:r>
            <a:r>
              <a:rPr lang="en-IN" dirty="0"/>
              <a:t>, </a:t>
            </a:r>
            <a:r>
              <a:rPr lang="en-IN" dirty="0" err="1"/>
              <a:t>Supplier_ID</a:t>
            </a:r>
            <a:r>
              <a:rPr lang="en-IN" dirty="0"/>
              <a:t>(FK), </a:t>
            </a:r>
            <a:r>
              <a:rPr lang="en-IN" dirty="0" err="1"/>
              <a:t>Product_ID</a:t>
            </a:r>
            <a:r>
              <a:rPr lang="en-IN" dirty="0"/>
              <a:t>(FK), Quantity, </a:t>
            </a:r>
            <a:r>
              <a:rPr lang="en-IN" dirty="0" err="1"/>
              <a:t>Purchase_Date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Product  (</a:t>
            </a:r>
            <a:r>
              <a:rPr lang="en-IN" dirty="0" err="1"/>
              <a:t>Product_ID</a:t>
            </a:r>
            <a:r>
              <a:rPr lang="en-IN" dirty="0"/>
              <a:t>,  </a:t>
            </a:r>
            <a:r>
              <a:rPr lang="en-IN" dirty="0" err="1"/>
              <a:t>Product_Name</a:t>
            </a:r>
            <a:r>
              <a:rPr lang="en-IN" dirty="0"/>
              <a:t>,  </a:t>
            </a:r>
            <a:r>
              <a:rPr lang="en-IN" dirty="0" err="1"/>
              <a:t>Category_ID</a:t>
            </a:r>
            <a:r>
              <a:rPr lang="en-IN" dirty="0"/>
              <a:t>(FK), </a:t>
            </a:r>
            <a:r>
              <a:rPr lang="en-IN" dirty="0" err="1"/>
              <a:t>Supplier_ID</a:t>
            </a:r>
            <a:r>
              <a:rPr lang="en-IN" dirty="0"/>
              <a:t>(FK), Price, 	       </a:t>
            </a:r>
            <a:r>
              <a:rPr lang="en-IN" dirty="0" err="1"/>
              <a:t>Stock_Quantity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Sale  (</a:t>
            </a:r>
            <a:r>
              <a:rPr lang="en-IN" dirty="0" err="1"/>
              <a:t>Sale_ID</a:t>
            </a:r>
            <a:r>
              <a:rPr lang="en-IN" dirty="0"/>
              <a:t>, </a:t>
            </a:r>
            <a:r>
              <a:rPr lang="en-IN" dirty="0" err="1"/>
              <a:t>Customer_ID</a:t>
            </a:r>
            <a:r>
              <a:rPr lang="en-IN" dirty="0"/>
              <a:t>(FK), </a:t>
            </a:r>
            <a:r>
              <a:rPr lang="en-IN" dirty="0" err="1"/>
              <a:t>Product_ID</a:t>
            </a:r>
            <a:r>
              <a:rPr lang="en-IN" dirty="0"/>
              <a:t>(FK), Quantity, </a:t>
            </a:r>
            <a:r>
              <a:rPr lang="en-IN" dirty="0" err="1"/>
              <a:t>Sales_Date</a:t>
            </a:r>
            <a:r>
              <a:rPr lang="en-IN" dirty="0"/>
              <a:t>, </a:t>
            </a:r>
            <a:r>
              <a:rPr lang="en-IN" dirty="0" err="1"/>
              <a:t>Total_Amount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B01ED-7ADC-9DFE-9D45-7201EA0C362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C2C71-20D8-FF2E-B01D-7FB378FE38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16EB71-92D3-EA97-E368-BA8A43BB19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119633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2656C-21EF-4840-B009-33F348F9A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64C294B-DE16-1D56-887E-047803137179}"/>
              </a:ext>
            </a:extLst>
          </p:cNvPr>
          <p:cNvSpPr txBox="1">
            <a:spLocks/>
          </p:cNvSpPr>
          <p:nvPr/>
        </p:nvSpPr>
        <p:spPr>
          <a:xfrm>
            <a:off x="3774265" y="523725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Relationships &amp; Cardinality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F51EC3-9B84-0F18-02F1-D6C76104A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50000"/>
            <a:ext cx="10820400" cy="462877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30" name="Relationships Table">
            <a:extLst>
              <a:ext uri="{FF2B5EF4-FFF2-40B4-BE49-F238E27FC236}">
                <a16:creationId xmlns:a16="http://schemas.microsoft.com/office/drawing/2014/main" id="{B19136BD-36BE-A966-78F3-AF028D844396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650000"/>
          <a:ext cx="10820400" cy="40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Relationship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Cardinality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Justification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Category — Product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One category can contain many products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Supplier — Product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One supplier can supply many products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Supplier — Purchase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One supplier can have many purchases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Product — Purchase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A product can appear in many purchase records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Customer — Sale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One customer can make many purchases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Product — Sale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1:M</a:t>
                      </a:r>
                      <a:endParaRPr lang="en-IN">
                        <a:effectLst/>
                      </a:endParaRP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A product can appear in many sales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889512-27C8-AF5B-06BE-25B69521B9E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5A22D-116B-59DA-EC88-3A7EAF8B36D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C154AC-4980-1E9B-4B18-561065F9A7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612703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B72F-4153-56ED-64FB-B35DF697E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1A8362-37DC-6E31-F3B6-D2F6F149A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290"/>
            <a:ext cx="10515600" cy="453141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4000" b="1" dirty="0"/>
              <a:t>Database Operations</a:t>
            </a:r>
          </a:p>
          <a:p>
            <a:r>
              <a:rPr lang="en-IN" b="1" dirty="0"/>
              <a:t>INSERT</a:t>
            </a:r>
          </a:p>
          <a:p>
            <a:r>
              <a:rPr lang="en-IN" dirty="0"/>
              <a:t>Add new products, suppliers and customers.</a:t>
            </a:r>
          </a:p>
          <a:p>
            <a:r>
              <a:rPr lang="en-IN" b="1" dirty="0"/>
              <a:t>SELECT</a:t>
            </a:r>
          </a:p>
          <a:p>
            <a:r>
              <a:rPr lang="en-IN" dirty="0"/>
              <a:t>Retrieve available products and stock information.</a:t>
            </a:r>
          </a:p>
          <a:p>
            <a:r>
              <a:rPr lang="en-IN" b="1" dirty="0"/>
              <a:t>UPDATE</a:t>
            </a:r>
          </a:p>
          <a:p>
            <a:r>
              <a:rPr lang="en-IN" dirty="0"/>
              <a:t>Update product price or stock quantity.</a:t>
            </a:r>
          </a:p>
          <a:p>
            <a:r>
              <a:rPr lang="en-IN" b="1" dirty="0"/>
              <a:t>DELETE</a:t>
            </a:r>
          </a:p>
          <a:p>
            <a:r>
              <a:rPr lang="en-IN" dirty="0"/>
              <a:t>Remove obsolete records.</a:t>
            </a:r>
          </a:p>
          <a:p>
            <a:r>
              <a:rPr lang="en-IN" b="1" dirty="0"/>
              <a:t>JOIN</a:t>
            </a:r>
          </a:p>
          <a:p>
            <a:r>
              <a:rPr lang="en-IN" dirty="0"/>
              <a:t>Combine product, supplier and transaction information.</a:t>
            </a:r>
          </a:p>
          <a:p>
            <a:r>
              <a:rPr lang="en-IN" b="1" dirty="0"/>
              <a:t>AGGREGATE</a:t>
            </a:r>
          </a:p>
          <a:p>
            <a:r>
              <a:rPr lang="en-IN" dirty="0"/>
              <a:t>Calculate total sales, purchases and stock values.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0B9AC-F915-0C45-423F-C54537DBD83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32BAD-DABE-9FE8-023B-3835FE936B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22AEAF-A153-8C2D-FA66-EBABDCC92F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29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Entity-Relationship Diagram</a:t>
            </a: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1919536" y="2636912"/>
            <a:ext cx="105156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endParaRPr lang="en-US" sz="1800" i="1" dirty="0">
              <a:solidFill>
                <a:srgbClr val="595959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10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B260850-9B9A-35BD-1E93-170F09FD5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1052736"/>
            <a:ext cx="8280919" cy="504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57B1A-695F-F714-58EF-DE7279D5F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C1A07-40A8-7E2B-2C85-56B5A0E0F8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161FA-F458-33A6-50EB-EF95CE201D3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E1695-9DC9-172D-0C0A-790CBC7084D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8362B-7A23-6CBF-9C98-281A92D9B72F}"/>
              </a:ext>
            </a:extLst>
          </p:cNvPr>
          <p:cNvSpPr txBox="1"/>
          <p:nvPr/>
        </p:nvSpPr>
        <p:spPr>
          <a:xfrm>
            <a:off x="5002111" y="166987"/>
            <a:ext cx="3325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chemeClr val="accent1"/>
                </a:solidFill>
              </a:rPr>
              <a:t>ORACLE TABLE CREATION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B5227D-3739-67FB-7C16-F7CEA1929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954058"/>
              </p:ext>
            </p:extLst>
          </p:nvPr>
        </p:nvGraphicFramePr>
        <p:xfrm>
          <a:off x="2927648" y="764704"/>
          <a:ext cx="8128000" cy="5591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838432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2008333"/>
                    </a:ext>
                  </a:extLst>
                </a:gridCol>
              </a:tblGrid>
              <a:tr h="5591646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TABLE Category (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PRIMARY KEY,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Category_Name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VARCHAR2(50) NOT NULL UNIQUE,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Description VARCHAR2(150)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b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kern="12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TABLE Customer (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PRIMARY KEY,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Name VARCHAR2(80) NOT NULL,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Contact_No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VARCHAR2(15) NOT NULL UNIQUE,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Email VARCHAR2(100) NOT NULL UNIQUE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b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TABLE Supplier (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Supplier_ID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PRIMARY KEY,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Supplier_Name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VARCHAR2(80) NOT NULL,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Contact_NO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VARCHAR2(15) NOT NULL UNIQUE,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Email VARCHAR2(100) NOT NULL UNIQUE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b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465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096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A19C8-9BB2-6D3E-1308-D972D2B1D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A1280-35EB-241E-5F2D-15EB45A15E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428FF-9EE6-76D3-7F2F-0A26A3B8091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F6ACE-D194-DF41-031B-6DCE477331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10060A-163F-3FB6-9998-43F761119311}"/>
              </a:ext>
            </a:extLst>
          </p:cNvPr>
          <p:cNvSpPr txBox="1"/>
          <p:nvPr/>
        </p:nvSpPr>
        <p:spPr>
          <a:xfrm>
            <a:off x="5087888" y="136525"/>
            <a:ext cx="3325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chemeClr val="accent1"/>
                </a:solidFill>
              </a:rPr>
              <a:t>ORACLE TABLE CREATION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47AEB6-17B8-4EB3-41FF-19528A763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28281"/>
              </p:ext>
            </p:extLst>
          </p:nvPr>
        </p:nvGraphicFramePr>
        <p:xfrm>
          <a:off x="2783632" y="908720"/>
          <a:ext cx="9073008" cy="5184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6504">
                  <a:extLst>
                    <a:ext uri="{9D8B030D-6E8A-4147-A177-3AD203B41FA5}">
                      <a16:colId xmlns:a16="http://schemas.microsoft.com/office/drawing/2014/main" val="2230428989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3439376714"/>
                    </a:ext>
                  </a:extLst>
                </a:gridCol>
              </a:tblGrid>
              <a:tr h="5184576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TABLE Product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PRIMARY KEY,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Product_Name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VARCHAR2(100) NOT NULL,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NOT NULL,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NOT NULL,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Price NUMBER(10,2) NOT NULL CHECK (Price &gt; 0),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Stock_Quantity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NUMBER(10) NOT NULL CHECK (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Stock_Quantity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&gt;= 0),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CONSTRAINT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fk_product_category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FOREIGN KEY (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REFERENCES Category(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CONSTRAINT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fk_product_supplier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FOREIGN KEY (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REFERENCES Supplier(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b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TABLE Purchase </a:t>
                      </a:r>
                    </a:p>
                    <a:p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Purchase_ID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PRIMARY KEY,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Supplier_ID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NOT NULL,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NOT NULL,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Quantity NUMBER(10) NOT NULL CHECK (Quantity &gt; 0),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Purchase_Date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DATE NOT NULL,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CONSTRAINT 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fk_purchase_supplier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FOREIGN KEY (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Supplier_ID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REFERENCES Supplier(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Supplier_ID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CONSTRAINT 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fk_purchase_product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FOREIGN KEY (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REFERENCES Product(</a:t>
                      </a:r>
                      <a:r>
                        <a:rPr lang="en-US" sz="1800" b="1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b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34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195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1A06D-3C74-CFB6-BE5F-A72D1884A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E6DDC-B4F9-93A6-3391-67F23940A2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6E796-AD8C-F0EC-D609-9504935F1FE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D6C0F-15E2-6092-9D90-DDB60AC502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84A42-79E6-F495-02C9-9E98BF47DF5E}"/>
              </a:ext>
            </a:extLst>
          </p:cNvPr>
          <p:cNvSpPr txBox="1"/>
          <p:nvPr/>
        </p:nvSpPr>
        <p:spPr>
          <a:xfrm>
            <a:off x="4799856" y="136525"/>
            <a:ext cx="3325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chemeClr val="accent1"/>
                </a:solidFill>
              </a:rPr>
              <a:t>ORACLE TABLE CREATION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F19FC9-5E65-B95F-0FA0-28D8696D3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569868"/>
              </p:ext>
            </p:extLst>
          </p:nvPr>
        </p:nvGraphicFramePr>
        <p:xfrm>
          <a:off x="2999656" y="1098188"/>
          <a:ext cx="744837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8376">
                  <a:extLst>
                    <a:ext uri="{9D8B030D-6E8A-4147-A177-3AD203B41FA5}">
                      <a16:colId xmlns:a16="http://schemas.microsoft.com/office/drawing/2014/main" val="2940163882"/>
                    </a:ext>
                  </a:extLst>
                </a:gridCol>
              </a:tblGrid>
              <a:tr h="39149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TABLE Sale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PRIMARY KEY,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NOT NULL,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NUMBER(5) NOT NULL,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Quantity NUMBER(10) NOT NULL CHECK (Quantity &gt; 0),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Sales_Date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DATE NOT NULL,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Total_Amount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NUMBER(12,2) NOT NULL CHECK (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Total_Amount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&gt;= 0),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CONSTRAINT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fk_sale_customer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FOREIGN KEY (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REFERENCES Customer(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CONSTRAINT 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fk_sale_product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FOREIGN KEY (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REFERENCES Product(</a:t>
                      </a:r>
                      <a:r>
                        <a:rPr lang="en-US" sz="1800" b="1" kern="1200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endParaRPr lang="en-US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553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329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B0911-EDD9-7276-2437-3EA571F5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8FB22-45FA-AB4A-5014-8FABD7DF8C4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13B7A-4831-82CA-81FC-CF9B366C40D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2ACE4-A02B-DFA8-1D28-85018243669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F1F346-505A-D23A-6A88-1FD67A3B7BC8}"/>
              </a:ext>
            </a:extLst>
          </p:cNvPr>
          <p:cNvSpPr txBox="1"/>
          <p:nvPr/>
        </p:nvSpPr>
        <p:spPr>
          <a:xfrm>
            <a:off x="3647728" y="136525"/>
            <a:ext cx="4208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chemeClr val="accent1"/>
                </a:solidFill>
              </a:rPr>
              <a:t>DATA INSERTION IN ORACLE 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F2F80-23B3-DB90-7CBC-08DE9837683B}"/>
              </a:ext>
            </a:extLst>
          </p:cNvPr>
          <p:cNvSpPr txBox="1"/>
          <p:nvPr/>
        </p:nvSpPr>
        <p:spPr>
          <a:xfrm>
            <a:off x="119336" y="1268760"/>
            <a:ext cx="2016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Category: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134C36-F690-1B9F-FC8E-27139DADC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75" y="1844824"/>
            <a:ext cx="10858908" cy="384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46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B7DB-8F29-06E1-7BA7-54A34A59F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9A3AE-72F3-3A9E-7C7B-2F0A9A8FB35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8F0DA-08C6-7F70-7A14-E128208F39B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6D7A7-7613-CCD9-1954-7DBD26468F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A7004A-C4DF-CC54-E36D-093A88A04C07}"/>
              </a:ext>
            </a:extLst>
          </p:cNvPr>
          <p:cNvSpPr txBox="1"/>
          <p:nvPr/>
        </p:nvSpPr>
        <p:spPr>
          <a:xfrm>
            <a:off x="0" y="1412776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Supplier: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9BB5D6-A289-DB78-C3C6-B99989B3B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1874441"/>
            <a:ext cx="11509490" cy="39308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23A2AC-7098-4D3C-1915-C9C786D41997}"/>
              </a:ext>
            </a:extLst>
          </p:cNvPr>
          <p:cNvSpPr txBox="1"/>
          <p:nvPr/>
        </p:nvSpPr>
        <p:spPr>
          <a:xfrm>
            <a:off x="3279338" y="0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accent1"/>
                </a:solidFill>
              </a:rPr>
              <a:t>DATA INSERTION IN ORACLE SQL</a:t>
            </a:r>
          </a:p>
        </p:txBody>
      </p:sp>
    </p:spTree>
    <p:extLst>
      <p:ext uri="{BB962C8B-B14F-4D97-AF65-F5344CB8AC3E}">
        <p14:creationId xmlns:p14="http://schemas.microsoft.com/office/powerpoint/2010/main" val="2068729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5A036-FE06-0621-F8B5-62C8A2CF4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002-5E83-34AF-2BF9-F8685767B74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D9E0B-0472-57B8-D45F-6893E14851A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10C22-875E-93F8-E542-9C5DA828505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6D0A03-AF93-BD04-6A92-E58881B85490}"/>
              </a:ext>
            </a:extLst>
          </p:cNvPr>
          <p:cNvSpPr txBox="1"/>
          <p:nvPr/>
        </p:nvSpPr>
        <p:spPr>
          <a:xfrm>
            <a:off x="99888" y="1628800"/>
            <a:ext cx="1476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Customer: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C4E6E-B19B-4E85-1B0F-3D62EDF76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8" y="2090465"/>
            <a:ext cx="10373280" cy="3738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79DB3B-FBBC-9553-7F1C-DE5ECD2332A6}"/>
              </a:ext>
            </a:extLst>
          </p:cNvPr>
          <p:cNvSpPr txBox="1"/>
          <p:nvPr/>
        </p:nvSpPr>
        <p:spPr>
          <a:xfrm>
            <a:off x="3503712" y="136525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accent1"/>
                </a:solidFill>
              </a:rPr>
              <a:t>DATA INSERTION IN ORACLE SQL</a:t>
            </a:r>
          </a:p>
        </p:txBody>
      </p:sp>
    </p:spTree>
    <p:extLst>
      <p:ext uri="{BB962C8B-B14F-4D97-AF65-F5344CB8AC3E}">
        <p14:creationId xmlns:p14="http://schemas.microsoft.com/office/powerpoint/2010/main" val="1334888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8BFAD-E061-0615-1310-0798539C5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0A45C-E8B3-8932-7FC3-779DFBCBA52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6F05C-6636-ECB4-219E-2B5E0F7B727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18697-DA6E-D3A3-138E-92BCBAFB85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F2B889-C381-F420-050C-AAFE4ED66A93}"/>
              </a:ext>
            </a:extLst>
          </p:cNvPr>
          <p:cNvSpPr txBox="1"/>
          <p:nvPr/>
        </p:nvSpPr>
        <p:spPr>
          <a:xfrm>
            <a:off x="0" y="1628800"/>
            <a:ext cx="1245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Product: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26D3A6-12A7-5B65-21A3-95131825B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2090466"/>
            <a:ext cx="11449272" cy="35707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E55720-3A8E-B234-BAD7-4CEA54A5DBFC}"/>
              </a:ext>
            </a:extLst>
          </p:cNvPr>
          <p:cNvSpPr txBox="1"/>
          <p:nvPr/>
        </p:nvSpPr>
        <p:spPr>
          <a:xfrm>
            <a:off x="3297547" y="10967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accent1"/>
                </a:solidFill>
              </a:rPr>
              <a:t>DATA INSERTION IN ORACLE SQL</a:t>
            </a:r>
          </a:p>
        </p:txBody>
      </p:sp>
    </p:spTree>
    <p:extLst>
      <p:ext uri="{BB962C8B-B14F-4D97-AF65-F5344CB8AC3E}">
        <p14:creationId xmlns:p14="http://schemas.microsoft.com/office/powerpoint/2010/main" val="1498378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D6569-2698-97E1-9743-D64252C0D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32FB1-B74C-B0ED-D41C-B9B851BCCD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51390-4B22-E673-EECB-36E0FD71374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DC493-B87E-4B92-77F8-F46AA6D88C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FC3253-BFB7-0CF9-2DDD-4537EB259D92}"/>
              </a:ext>
            </a:extLst>
          </p:cNvPr>
          <p:cNvSpPr txBox="1"/>
          <p:nvPr/>
        </p:nvSpPr>
        <p:spPr>
          <a:xfrm>
            <a:off x="0" y="1700808"/>
            <a:ext cx="1403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Purchase: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783603-AD55-28A0-2463-EF6B6AAB1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5" y="2162473"/>
            <a:ext cx="10970289" cy="37868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76A7BC-7CC4-06B9-133E-9E8E1BCFCB80}"/>
              </a:ext>
            </a:extLst>
          </p:cNvPr>
          <p:cNvSpPr txBox="1"/>
          <p:nvPr/>
        </p:nvSpPr>
        <p:spPr>
          <a:xfrm>
            <a:off x="2989289" y="136525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accent1"/>
                </a:solidFill>
              </a:rPr>
              <a:t>DATA INSERTION IN ORACLE SQL</a:t>
            </a:r>
          </a:p>
        </p:txBody>
      </p:sp>
    </p:spTree>
    <p:extLst>
      <p:ext uri="{BB962C8B-B14F-4D97-AF65-F5344CB8AC3E}">
        <p14:creationId xmlns:p14="http://schemas.microsoft.com/office/powerpoint/2010/main" val="703925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0E1CF-80F9-022A-AC9C-242BD2C3B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358C2-8AA9-4FDF-3825-BE1120E351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A09F4-AECF-8BD3-1C64-246AA08E9A5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21DD4-3C39-5A07-3546-CF89216B67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27E292-0D70-ADCB-AEDD-3EAA115673C6}"/>
              </a:ext>
            </a:extLst>
          </p:cNvPr>
          <p:cNvSpPr txBox="1"/>
          <p:nvPr/>
        </p:nvSpPr>
        <p:spPr>
          <a:xfrm>
            <a:off x="58819" y="1628800"/>
            <a:ext cx="779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Sale: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174771-99BD-83BA-AA33-89C990379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8" y="2090465"/>
            <a:ext cx="10993024" cy="3786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FE6C0D-3944-763A-2174-15C40561A68D}"/>
              </a:ext>
            </a:extLst>
          </p:cNvPr>
          <p:cNvSpPr txBox="1"/>
          <p:nvPr/>
        </p:nvSpPr>
        <p:spPr>
          <a:xfrm>
            <a:off x="3431704" y="0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accent1"/>
                </a:solidFill>
              </a:rPr>
              <a:t>DATA INSERTION IN ORACLE SQL</a:t>
            </a:r>
          </a:p>
        </p:txBody>
      </p:sp>
    </p:spTree>
    <p:extLst>
      <p:ext uri="{BB962C8B-B14F-4D97-AF65-F5344CB8AC3E}">
        <p14:creationId xmlns:p14="http://schemas.microsoft.com/office/powerpoint/2010/main" val="2759926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3108-660F-60F6-905F-06682732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253ED-A61E-16ED-8824-3A1A6F48E6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A1BDD-69E8-656E-97C8-BBD55E2224C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9F0B1-6158-6A44-9B13-6DAA8FD27A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55BE1D-83EC-6B93-0FA1-F15FDFEAAE3F}"/>
              </a:ext>
            </a:extLst>
          </p:cNvPr>
          <p:cNvSpPr txBox="1"/>
          <p:nvPr/>
        </p:nvSpPr>
        <p:spPr>
          <a:xfrm>
            <a:off x="3410316" y="136525"/>
            <a:ext cx="60700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SQL Questions, Queries and Expected Outputs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D8811-9A27-CC84-D3C3-160C39A2E7A1}"/>
              </a:ext>
            </a:extLst>
          </p:cNvPr>
          <p:cNvSpPr txBox="1"/>
          <p:nvPr/>
        </p:nvSpPr>
        <p:spPr>
          <a:xfrm>
            <a:off x="0" y="1268760"/>
            <a:ext cx="44644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Basic Query 1</a:t>
            </a:r>
          </a:p>
          <a:p>
            <a:r>
              <a:rPr lang="en-US" dirty="0"/>
              <a:t>Question: Display all products with their price and current stock quantity.</a:t>
            </a:r>
          </a:p>
          <a:p>
            <a:r>
              <a:rPr lang="en-US" dirty="0">
                <a:solidFill>
                  <a:schemeClr val="accent1"/>
                </a:solidFill>
              </a:rPr>
              <a:t>SQL Query:</a:t>
            </a:r>
          </a:p>
          <a:p>
            <a:r>
              <a:rPr lang="en-US" dirty="0"/>
              <a:t>SELECT 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Product_Name</a:t>
            </a:r>
            <a:r>
              <a:rPr lang="en-US" dirty="0"/>
              <a:t>, Price, </a:t>
            </a:r>
            <a:r>
              <a:rPr lang="en-US" dirty="0" err="1"/>
              <a:t>Stock_Quantity</a:t>
            </a:r>
            <a:br>
              <a:rPr lang="en-US" dirty="0"/>
            </a:br>
            <a:r>
              <a:rPr lang="en-US" dirty="0"/>
              <a:t>FROM Product</a:t>
            </a:r>
            <a:br>
              <a:rPr lang="en-US" dirty="0"/>
            </a:br>
            <a:r>
              <a:rPr lang="en-US" dirty="0"/>
              <a:t>ORDER BY </a:t>
            </a:r>
            <a:r>
              <a:rPr lang="en-US" dirty="0" err="1"/>
              <a:t>Product_ID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89C45A-D976-2C17-98C3-762E4B790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20709"/>
            <a:ext cx="4896544" cy="20799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2AFC7D-D1B8-2008-00C4-EF8010B60697}"/>
              </a:ext>
            </a:extLst>
          </p:cNvPr>
          <p:cNvSpPr txBox="1"/>
          <p:nvPr/>
        </p:nvSpPr>
        <p:spPr>
          <a:xfrm>
            <a:off x="0" y="3783674"/>
            <a:ext cx="1830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Expected 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9CEB21-8386-4237-BFE2-9F4E2860D422}"/>
              </a:ext>
            </a:extLst>
          </p:cNvPr>
          <p:cNvSpPr txBox="1"/>
          <p:nvPr/>
        </p:nvSpPr>
        <p:spPr>
          <a:xfrm>
            <a:off x="6223819" y="1253613"/>
            <a:ext cx="57048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Basic Query 2</a:t>
            </a:r>
          </a:p>
          <a:p>
            <a:r>
              <a:rPr lang="en-US" dirty="0"/>
              <a:t>Question: Find products whose stock quantity is greater than 20.</a:t>
            </a:r>
          </a:p>
          <a:p>
            <a:r>
              <a:rPr lang="en-US" dirty="0">
                <a:solidFill>
                  <a:schemeClr val="accent1"/>
                </a:solidFill>
              </a:rPr>
              <a:t>SQL Query:</a:t>
            </a:r>
          </a:p>
          <a:p>
            <a:r>
              <a:rPr lang="en-US" dirty="0"/>
              <a:t>SELECT 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Product_Name</a:t>
            </a:r>
            <a:r>
              <a:rPr lang="en-US" dirty="0"/>
              <a:t>, </a:t>
            </a:r>
            <a:r>
              <a:rPr lang="en-US" dirty="0" err="1"/>
              <a:t>Stock_Quantity</a:t>
            </a:r>
            <a:br>
              <a:rPr lang="en-US" dirty="0"/>
            </a:br>
            <a:r>
              <a:rPr lang="en-US" dirty="0"/>
              <a:t>FROM Product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Stock_Quantity</a:t>
            </a:r>
            <a:r>
              <a:rPr lang="en-US" dirty="0"/>
              <a:t> &gt; 20</a:t>
            </a:r>
            <a:br>
              <a:rPr lang="en-US" dirty="0"/>
            </a:br>
            <a:r>
              <a:rPr lang="en-US" dirty="0"/>
              <a:t>ORDER BY </a:t>
            </a:r>
            <a:r>
              <a:rPr lang="en-US" dirty="0" err="1"/>
              <a:t>Stock_Quantity</a:t>
            </a:r>
            <a:r>
              <a:rPr lang="en-US" dirty="0"/>
              <a:t> DESC;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   Expected Output: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6643A1-8C72-20DA-4764-E1E0A552C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096" y="4115936"/>
            <a:ext cx="5228520" cy="218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17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28D1B-2C9A-0C97-F720-881B464C0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B71AB-7845-6A6F-5160-70B4881DC0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9D20C-3C1A-D972-341F-8C0298E1301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D0D62-45A7-AAEE-7A4F-0E2C5FC6C3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E7FD36-E8D6-7EF2-B564-7C219C535007}"/>
              </a:ext>
            </a:extLst>
          </p:cNvPr>
          <p:cNvSpPr txBox="1"/>
          <p:nvPr/>
        </p:nvSpPr>
        <p:spPr>
          <a:xfrm>
            <a:off x="0" y="1412776"/>
            <a:ext cx="56314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Basic Query 3</a:t>
            </a:r>
          </a:p>
          <a:p>
            <a:r>
              <a:rPr lang="en-US" dirty="0"/>
              <a:t>Question: Find products priced between 500 and 5000.</a:t>
            </a:r>
          </a:p>
          <a:p>
            <a:r>
              <a:rPr lang="en-US" dirty="0">
                <a:solidFill>
                  <a:schemeClr val="accent1"/>
                </a:solidFill>
              </a:rPr>
              <a:t>SQL Query:</a:t>
            </a:r>
          </a:p>
          <a:p>
            <a:r>
              <a:rPr lang="en-US" dirty="0"/>
              <a:t>SELECT 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Product_Name</a:t>
            </a:r>
            <a:r>
              <a:rPr lang="en-US" dirty="0"/>
              <a:t>, Price</a:t>
            </a:r>
            <a:br>
              <a:rPr lang="en-US" dirty="0"/>
            </a:br>
            <a:r>
              <a:rPr lang="en-US" dirty="0"/>
              <a:t>FROM Product</a:t>
            </a:r>
            <a:br>
              <a:rPr lang="en-US" dirty="0"/>
            </a:br>
            <a:r>
              <a:rPr lang="en-US" dirty="0"/>
              <a:t>WHERE Price BETWEEN 500 AND 5000</a:t>
            </a:r>
            <a:br>
              <a:rPr lang="en-US" dirty="0"/>
            </a:br>
            <a:r>
              <a:rPr lang="en-US" dirty="0"/>
              <a:t>ORDER BY Price;</a:t>
            </a:r>
          </a:p>
          <a:p>
            <a:r>
              <a:rPr lang="en-US" dirty="0">
                <a:solidFill>
                  <a:schemeClr val="accent1"/>
                </a:solidFill>
              </a:rPr>
              <a:t>Expected Output: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6BCF5-AB1F-0973-B560-1585877B9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4" y="3861048"/>
            <a:ext cx="5300586" cy="22322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F76711-263B-4D7F-1A65-FBA8DEEEBC3F}"/>
              </a:ext>
            </a:extLst>
          </p:cNvPr>
          <p:cNvSpPr txBox="1"/>
          <p:nvPr/>
        </p:nvSpPr>
        <p:spPr>
          <a:xfrm>
            <a:off x="6096000" y="818339"/>
            <a:ext cx="6168008" cy="2905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accent1"/>
                </a:solidFill>
                <a:effectLst/>
                <a:latin typeface="+mn-lt"/>
                <a:ea typeface="MS Gothic" panose="020B0609070205080204" pitchFamily="49" charset="-128"/>
                <a:cs typeface="Times New Roman" panose="02020603050405020304" pitchFamily="18" charset="0"/>
              </a:rPr>
              <a:t>Basic Query 4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Question: Display customers whose names start with the letter 'A'.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SQL Query:</a:t>
            </a:r>
          </a:p>
          <a:p>
            <a:pPr marL="0" marR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Customer_ID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Name, Email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FROM Customer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WHERE Name LIKE 'A%'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Customer_ID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Expected Output:</a:t>
            </a:r>
            <a:endParaRPr lang="en-US" sz="1000" dirty="0">
              <a:solidFill>
                <a:schemeClr val="accent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ADB289-28E0-D4C5-5742-4B6539FBA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509" y="3833743"/>
            <a:ext cx="5631428" cy="22595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D899C6-8C81-BEEF-5AEE-ABF58BCF3148}"/>
              </a:ext>
            </a:extLst>
          </p:cNvPr>
          <p:cNvSpPr txBox="1"/>
          <p:nvPr/>
        </p:nvSpPr>
        <p:spPr>
          <a:xfrm>
            <a:off x="2735890" y="0"/>
            <a:ext cx="6250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SQL Questions, Queries and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3067966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C93A2-9271-D189-4065-730054E1A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EF19B-B4A3-4531-E4FD-A5482FC34E2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9BD93-7BAB-C980-DFB6-E0F5EA1CB95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74F21-5937-1EBC-E602-D3DC444FC6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FD68C2-68F7-C44A-5437-CA9457FE9818}"/>
              </a:ext>
            </a:extLst>
          </p:cNvPr>
          <p:cNvSpPr txBox="1"/>
          <p:nvPr/>
        </p:nvSpPr>
        <p:spPr>
          <a:xfrm>
            <a:off x="0" y="1340768"/>
            <a:ext cx="56440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Basic Query 5</a:t>
            </a:r>
          </a:p>
          <a:p>
            <a:r>
              <a:rPr lang="en-US" dirty="0"/>
              <a:t>Question: Find products with stock quantity below 15.</a:t>
            </a:r>
          </a:p>
          <a:p>
            <a:r>
              <a:rPr lang="en-US" dirty="0">
                <a:solidFill>
                  <a:schemeClr val="accent1"/>
                </a:solidFill>
              </a:rPr>
              <a:t>SQL Query:</a:t>
            </a:r>
          </a:p>
          <a:p>
            <a:r>
              <a:rPr lang="en-US" dirty="0"/>
              <a:t>SELECT 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Product_Name</a:t>
            </a:r>
            <a:r>
              <a:rPr lang="en-US" dirty="0"/>
              <a:t>, </a:t>
            </a:r>
            <a:r>
              <a:rPr lang="en-US" dirty="0" err="1"/>
              <a:t>Stock_Quantity</a:t>
            </a:r>
            <a:br>
              <a:rPr lang="en-US" dirty="0"/>
            </a:br>
            <a:r>
              <a:rPr lang="en-US" dirty="0"/>
              <a:t>FROM Product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Stock_Quantity</a:t>
            </a:r>
            <a:r>
              <a:rPr lang="en-US" dirty="0"/>
              <a:t> &lt; 15</a:t>
            </a:r>
            <a:br>
              <a:rPr lang="en-US" dirty="0"/>
            </a:br>
            <a:r>
              <a:rPr lang="en-US" dirty="0"/>
              <a:t>ORDER BY </a:t>
            </a:r>
            <a:r>
              <a:rPr lang="en-US" dirty="0" err="1"/>
              <a:t>Stock_Quantity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chemeClr val="accent1"/>
                </a:solidFill>
              </a:rPr>
              <a:t>Expected 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15D14A-C7CD-2474-EC39-AC4FFEB7D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" y="3649092"/>
            <a:ext cx="5229450" cy="23083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033CEF-AA92-1E74-25E7-801BFFB27480}"/>
              </a:ext>
            </a:extLst>
          </p:cNvPr>
          <p:cNvSpPr txBox="1"/>
          <p:nvPr/>
        </p:nvSpPr>
        <p:spPr>
          <a:xfrm>
            <a:off x="5958788" y="620688"/>
            <a:ext cx="6230758" cy="2905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accent1"/>
                </a:solidFill>
                <a:effectLst/>
                <a:latin typeface="+mn-lt"/>
                <a:ea typeface="MS Gothic" panose="020B0609070205080204" pitchFamily="49" charset="-128"/>
                <a:cs typeface="Times New Roman" panose="02020603050405020304" pitchFamily="18" charset="0"/>
              </a:rPr>
              <a:t>Basic Query 6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Question: Display sales whose total amount is greater than 5000.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SQL Query:</a:t>
            </a:r>
          </a:p>
          <a:p>
            <a:pPr marL="0" marR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Sale_ID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Customer_ID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Quantity,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Total_Amount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FROM Sale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WHERE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Total_Amount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&gt; 5000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Total_Amount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DESC;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Expected Output:</a:t>
            </a:r>
            <a:endParaRPr lang="en-US" sz="1000" dirty="0">
              <a:solidFill>
                <a:schemeClr val="accent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56B50F-43B2-88AF-B8BA-D4B913B24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788" y="3526612"/>
            <a:ext cx="6041868" cy="24308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6162E1-7E22-86B5-9B56-79C84EACD542}"/>
              </a:ext>
            </a:extLst>
          </p:cNvPr>
          <p:cNvSpPr txBox="1"/>
          <p:nvPr/>
        </p:nvSpPr>
        <p:spPr>
          <a:xfrm>
            <a:off x="2822001" y="0"/>
            <a:ext cx="6228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SQL Questions, Queries and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477549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0BC81-E42E-A3DC-D97B-AFFDE7224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761E4-8153-FC2F-B5F1-8CCF782E9DD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3ACE7-DC48-AF51-70C3-88D7DEE1BCE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3F8BE-F920-1182-E3B7-64F3CEE9C4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7B476A-57BF-FD9B-9E32-3A8688E73CAF}"/>
              </a:ext>
            </a:extLst>
          </p:cNvPr>
          <p:cNvSpPr txBox="1"/>
          <p:nvPr/>
        </p:nvSpPr>
        <p:spPr>
          <a:xfrm>
            <a:off x="-49812" y="1275325"/>
            <a:ext cx="60738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Basic Query 7</a:t>
            </a:r>
          </a:p>
          <a:p>
            <a:r>
              <a:rPr lang="en-US" dirty="0"/>
              <a:t>Question: Find purchase records where the purchased quantity is at least 25.</a:t>
            </a:r>
          </a:p>
          <a:p>
            <a:r>
              <a:rPr lang="en-US" dirty="0">
                <a:solidFill>
                  <a:schemeClr val="accent1"/>
                </a:solidFill>
              </a:rPr>
              <a:t>SQL Query:</a:t>
            </a:r>
          </a:p>
          <a:p>
            <a:r>
              <a:rPr lang="en-US" dirty="0"/>
              <a:t>SELECT </a:t>
            </a:r>
            <a:r>
              <a:rPr lang="en-US" dirty="0" err="1"/>
              <a:t>Purchase_ID</a:t>
            </a:r>
            <a:r>
              <a:rPr lang="en-US" dirty="0"/>
              <a:t>, </a:t>
            </a:r>
            <a:r>
              <a:rPr lang="en-US" dirty="0" err="1"/>
              <a:t>Supplier_ID</a:t>
            </a:r>
            <a:r>
              <a:rPr lang="en-US" dirty="0"/>
              <a:t>, </a:t>
            </a:r>
            <a:r>
              <a:rPr lang="en-US" dirty="0" err="1"/>
              <a:t>Product_ID</a:t>
            </a:r>
            <a:r>
              <a:rPr lang="en-US" dirty="0"/>
              <a:t>, Quantity</a:t>
            </a:r>
            <a:br>
              <a:rPr lang="en-US" dirty="0"/>
            </a:br>
            <a:r>
              <a:rPr lang="en-US" dirty="0"/>
              <a:t>FROM Purchase</a:t>
            </a:r>
            <a:br>
              <a:rPr lang="en-US" dirty="0"/>
            </a:br>
            <a:r>
              <a:rPr lang="en-US" dirty="0"/>
              <a:t>WHERE Quantity &gt;= 25</a:t>
            </a:r>
            <a:br>
              <a:rPr lang="en-US" dirty="0"/>
            </a:br>
            <a:r>
              <a:rPr lang="en-US" dirty="0"/>
              <a:t>ORDER BY Quantity DESC;</a:t>
            </a:r>
          </a:p>
          <a:p>
            <a:r>
              <a:rPr lang="en-US" dirty="0">
                <a:solidFill>
                  <a:schemeClr val="accent1"/>
                </a:solidFill>
              </a:rPr>
              <a:t>Expected Output: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8DD63-CC45-4754-CD8B-C04902247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" y="4005064"/>
            <a:ext cx="5281715" cy="2160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6BB950-423D-E2F3-3D9A-12A1A3C9C5A6}"/>
              </a:ext>
            </a:extLst>
          </p:cNvPr>
          <p:cNvSpPr txBox="1"/>
          <p:nvPr/>
        </p:nvSpPr>
        <p:spPr>
          <a:xfrm>
            <a:off x="6312023" y="637827"/>
            <a:ext cx="6073803" cy="312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  <a:effectLst/>
                <a:latin typeface="+mn-lt"/>
                <a:ea typeface="MS Gothic" panose="020B0609070205080204" pitchFamily="49" charset="-128"/>
                <a:cs typeface="Times New Roman" panose="02020603050405020304" pitchFamily="18" charset="0"/>
              </a:rPr>
              <a:t>Advanced Query 1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Question: Display each product with its category name and supplier name using joins.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SQL Query:</a:t>
            </a:r>
          </a:p>
          <a:p>
            <a:pPr marL="0" marR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p.Product_ID</a:t>
            </a: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p.Product_Name</a:t>
            </a: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c.Category_Name</a:t>
            </a: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s.Supplier_Name</a:t>
            </a:r>
            <a:b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FROM Product p</a:t>
            </a:r>
            <a:b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JOIN Category c ON </a:t>
            </a:r>
            <a:r>
              <a:rPr lang="en-US" sz="16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p.Category_ID</a:t>
            </a: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c.Category_ID</a:t>
            </a:r>
            <a:b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JOIN Supplier s ON </a:t>
            </a:r>
            <a:r>
              <a:rPr lang="en-US" sz="16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p.Supplier_ID</a:t>
            </a: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s.Supplier_ID</a:t>
            </a:r>
            <a:b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ORDER BY </a:t>
            </a:r>
            <a:r>
              <a:rPr lang="en-US" sz="16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p.Product_ID</a:t>
            </a: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</a:p>
          <a:p>
            <a:pPr marL="0" marR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Expected Output:</a:t>
            </a:r>
            <a:endParaRPr lang="en-US" sz="1600" dirty="0">
              <a:solidFill>
                <a:schemeClr val="accent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B2D83F-CAB5-938D-EDD6-7ED5AE8E5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23" y="3759194"/>
            <a:ext cx="5886153" cy="26010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49FEC6-3E9F-1AAB-7307-9BEB807E79F6}"/>
              </a:ext>
            </a:extLst>
          </p:cNvPr>
          <p:cNvSpPr txBox="1"/>
          <p:nvPr/>
        </p:nvSpPr>
        <p:spPr>
          <a:xfrm>
            <a:off x="3134265" y="62093"/>
            <a:ext cx="6310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SQL Questions, Queries and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3661285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64FB-D865-9881-B92B-50CB4D1E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0BAFB-7079-9781-6069-4E6DECC5C4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FD7DB-1497-59DA-89A9-75557869C15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38668-70AF-19D1-C57C-B609A7FD3F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E9FB5-96F9-C9DF-0D53-BB2BC8ACA5F2}"/>
              </a:ext>
            </a:extLst>
          </p:cNvPr>
          <p:cNvSpPr txBox="1"/>
          <p:nvPr/>
        </p:nvSpPr>
        <p:spPr>
          <a:xfrm>
            <a:off x="3142" y="1196752"/>
            <a:ext cx="5444786" cy="374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accent1"/>
                </a:solidFill>
                <a:effectLst/>
                <a:latin typeface="+mn-lt"/>
                <a:ea typeface="MS Gothic" panose="020B0609070205080204" pitchFamily="49" charset="-128"/>
                <a:cs typeface="Times New Roman" panose="02020603050405020304" pitchFamily="18" charset="0"/>
              </a:rPr>
              <a:t>Advanced Query 2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Question: Display every sale with the customer name, product name, quantity and total amount.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SQL Query:</a:t>
            </a:r>
          </a:p>
          <a:p>
            <a:pPr marL="0" marR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sa.Sale_ID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c.Name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AS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Customer_Name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p.Product_Name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     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sa.Quantity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sa.Total_Amount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FROM Sale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JOIN Customer c ON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sa.Customer_ID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c.Customer_ID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JOIN Product p ON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sa.Product_ID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p.Product_ID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sa.Sale_ID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Expected Output:</a:t>
            </a:r>
            <a:endParaRPr lang="en-US" sz="1000" dirty="0">
              <a:solidFill>
                <a:schemeClr val="accent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08E472-20D6-A755-1684-F2935D88C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1196752"/>
            <a:ext cx="6707433" cy="4680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F603D3-AC89-4C35-D803-C91B5D35B170}"/>
              </a:ext>
            </a:extLst>
          </p:cNvPr>
          <p:cNvSpPr txBox="1"/>
          <p:nvPr/>
        </p:nvSpPr>
        <p:spPr>
          <a:xfrm>
            <a:off x="2696720" y="27496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SQL Questions, Queries and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4226065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3A820-342D-F515-9242-0B8DBF10A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92667-0A13-3581-7860-9CA3967A37D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A893D-FE9C-558C-91E2-E1DFB1A7718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F7C5D-0357-CC5C-5B3B-BFFC682529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2F317C-A82A-716D-9C19-AB07517F6303}"/>
              </a:ext>
            </a:extLst>
          </p:cNvPr>
          <p:cNvSpPr txBox="1"/>
          <p:nvPr/>
        </p:nvSpPr>
        <p:spPr>
          <a:xfrm>
            <a:off x="119337" y="1533832"/>
            <a:ext cx="51125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Advanced Query 3</a:t>
            </a:r>
          </a:p>
          <a:p>
            <a:r>
              <a:rPr lang="en-US" dirty="0"/>
              <a:t>Question: Calculate the total quantity purchased from each supplier.</a:t>
            </a:r>
          </a:p>
          <a:p>
            <a:r>
              <a:rPr lang="en-US" dirty="0">
                <a:solidFill>
                  <a:schemeClr val="accent1"/>
                </a:solidFill>
              </a:rPr>
              <a:t>SQL Query:</a:t>
            </a:r>
          </a:p>
          <a:p>
            <a:r>
              <a:rPr lang="en-US" dirty="0"/>
              <a:t>SELECT </a:t>
            </a:r>
            <a:r>
              <a:rPr lang="en-US" dirty="0" err="1"/>
              <a:t>s.Supplier_ID</a:t>
            </a:r>
            <a:r>
              <a:rPr lang="en-US" dirty="0"/>
              <a:t>, </a:t>
            </a:r>
            <a:r>
              <a:rPr lang="en-US" dirty="0" err="1"/>
              <a:t>s.Supplier_Name</a:t>
            </a:r>
            <a:r>
              <a:rPr lang="en-US" dirty="0"/>
              <a:t>, SUM(</a:t>
            </a:r>
            <a:r>
              <a:rPr lang="en-US" dirty="0" err="1"/>
              <a:t>pu.Quantity</a:t>
            </a:r>
            <a:r>
              <a:rPr lang="en-US" dirty="0"/>
              <a:t>) AS </a:t>
            </a:r>
            <a:r>
              <a:rPr lang="en-US" dirty="0" err="1"/>
              <a:t>Total_Purchased</a:t>
            </a:r>
            <a:br>
              <a:rPr lang="en-US" dirty="0"/>
            </a:br>
            <a:r>
              <a:rPr lang="en-US" dirty="0"/>
              <a:t>FROM Supplier s</a:t>
            </a:r>
            <a:br>
              <a:rPr lang="en-US" dirty="0"/>
            </a:br>
            <a:r>
              <a:rPr lang="en-US" dirty="0"/>
              <a:t>JOIN Purchase </a:t>
            </a:r>
            <a:r>
              <a:rPr lang="en-US" dirty="0" err="1"/>
              <a:t>pu</a:t>
            </a:r>
            <a:r>
              <a:rPr lang="en-US" dirty="0"/>
              <a:t> ON </a:t>
            </a:r>
            <a:r>
              <a:rPr lang="en-US" dirty="0" err="1"/>
              <a:t>s.Supplier_ID</a:t>
            </a:r>
            <a:r>
              <a:rPr lang="en-US" dirty="0"/>
              <a:t> = </a:t>
            </a:r>
            <a:r>
              <a:rPr lang="en-US" dirty="0" err="1"/>
              <a:t>pu.Supplier_ID</a:t>
            </a:r>
            <a:br>
              <a:rPr lang="en-US" dirty="0"/>
            </a:br>
            <a:r>
              <a:rPr lang="en-US" dirty="0"/>
              <a:t>GROUP BY </a:t>
            </a:r>
            <a:r>
              <a:rPr lang="en-US" dirty="0" err="1"/>
              <a:t>s.Supplier_ID</a:t>
            </a:r>
            <a:r>
              <a:rPr lang="en-US" dirty="0"/>
              <a:t>, </a:t>
            </a:r>
            <a:r>
              <a:rPr lang="en-US" dirty="0" err="1"/>
              <a:t>s.Supplier_Name</a:t>
            </a:r>
            <a:br>
              <a:rPr lang="en-US" dirty="0"/>
            </a:br>
            <a:r>
              <a:rPr lang="en-US" dirty="0"/>
              <a:t>ORDER BY </a:t>
            </a:r>
            <a:r>
              <a:rPr lang="en-US" dirty="0" err="1"/>
              <a:t>Total_Purchased</a:t>
            </a:r>
            <a:r>
              <a:rPr lang="en-US" dirty="0"/>
              <a:t> DESC;</a:t>
            </a:r>
          </a:p>
          <a:p>
            <a:r>
              <a:rPr lang="en-US" dirty="0">
                <a:solidFill>
                  <a:schemeClr val="accent1"/>
                </a:solidFill>
              </a:rPr>
              <a:t>Expected Output: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29144C-F67E-6475-E5D8-3CEEA698C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928" y="1533832"/>
            <a:ext cx="6408712" cy="43434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60D03A-1871-D16C-B832-DD96BCFE4914}"/>
              </a:ext>
            </a:extLst>
          </p:cNvPr>
          <p:cNvSpPr txBox="1"/>
          <p:nvPr/>
        </p:nvSpPr>
        <p:spPr>
          <a:xfrm>
            <a:off x="2989289" y="25957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SQL Questions, Queries and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1774617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1100D-2A68-50D9-3A87-85D26ACC6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482AA-0762-967D-5DA2-963EE8718A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80245-CB99-3848-9E7D-01D2D518E9B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8C5DE-00D6-937E-F1B0-57A44FFF2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031AE2-50D6-20A3-9443-142858358AF3}"/>
              </a:ext>
            </a:extLst>
          </p:cNvPr>
          <p:cNvSpPr txBox="1"/>
          <p:nvPr/>
        </p:nvSpPr>
        <p:spPr>
          <a:xfrm>
            <a:off x="0" y="1367602"/>
            <a:ext cx="5375920" cy="3573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accent1"/>
                </a:solidFill>
                <a:effectLst/>
                <a:latin typeface="+mn-lt"/>
                <a:ea typeface="MS Gothic" panose="020B0609070205080204" pitchFamily="49" charset="-128"/>
                <a:cs typeface="Times New Roman" panose="02020603050405020304" pitchFamily="18" charset="0"/>
              </a:rPr>
              <a:t>Advanced Query 4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Question: Calculate the average product price for each category.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</a:t>
            </a: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QL Query:</a:t>
            </a:r>
          </a:p>
          <a:p>
            <a:pPr marL="0" marR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c.Category_ID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c.Category_Name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      ROUND(AVG(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p.Price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), 2) AS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Average_Price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FROM Category c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JOIN Product p ON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c.Category_ID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p.Category_ID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GROUP BY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c.Category_ID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c.Category_Name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c.Category_ID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Expected Output:</a:t>
            </a:r>
            <a:endParaRPr lang="en-US" sz="1000" dirty="0">
              <a:solidFill>
                <a:schemeClr val="accent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BCBC99-809F-7F1C-7BA1-D01506F87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952" y="1547674"/>
            <a:ext cx="6120680" cy="44016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BB2136-8A63-45EB-A544-3E7091CC5557}"/>
              </a:ext>
            </a:extLst>
          </p:cNvPr>
          <p:cNvSpPr txBox="1"/>
          <p:nvPr/>
        </p:nvSpPr>
        <p:spPr>
          <a:xfrm>
            <a:off x="3234644" y="10967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SQL Questions, Queries and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3825161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67C08-D4C7-6D3E-219D-01463C49B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D7761-D1CA-D9A3-E4EB-72129FD24F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9B398-2624-8AA4-D5BC-28BFDF94E9A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44DD1-8970-8B29-18FF-02F4B6D093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067A08-BE19-F006-D114-D62C2A4B51AC}"/>
              </a:ext>
            </a:extLst>
          </p:cNvPr>
          <p:cNvSpPr txBox="1"/>
          <p:nvPr/>
        </p:nvSpPr>
        <p:spPr>
          <a:xfrm>
            <a:off x="1" y="1340768"/>
            <a:ext cx="4799856" cy="4013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accent1"/>
                </a:solidFill>
                <a:effectLst/>
                <a:latin typeface="+mn-lt"/>
                <a:ea typeface="MS Gothic" panose="020B0609070205080204" pitchFamily="49" charset="-128"/>
                <a:cs typeface="Times New Roman" panose="02020603050405020304" pitchFamily="18" charset="0"/>
              </a:rPr>
              <a:t>Advanced Query 5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Question: Find customers whose total sales amount is greater than 5000 using GROUP BY and HAVING.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SQL Query:</a:t>
            </a:r>
          </a:p>
          <a:p>
            <a:pPr marL="0" marR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c.Customer_ID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c.Name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      SUM(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sa.Total_Amount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) AS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Total_Sales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FROM Customer c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JOIN Sale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ON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c.Customer_ID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sa.Customer_ID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GROUP BY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c.Customer_ID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c.Name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HAVING SUM(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sa.Total_Amount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) &gt; 5000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Total_Sales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DESC;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Expected Output:</a:t>
            </a:r>
            <a:endParaRPr lang="en-US" sz="1000" dirty="0">
              <a:solidFill>
                <a:schemeClr val="accent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546307-1619-2FEC-F1C1-086150F43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1340768"/>
            <a:ext cx="6624736" cy="44644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FA152A-68B1-C9A6-8BD2-7F25C00C3735}"/>
              </a:ext>
            </a:extLst>
          </p:cNvPr>
          <p:cNvSpPr txBox="1"/>
          <p:nvPr/>
        </p:nvSpPr>
        <p:spPr>
          <a:xfrm>
            <a:off x="2917281" y="108272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SQL Questions, Queries and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3688650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067F2-7DA2-E412-0F39-3A320700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53089-7176-C989-E18A-765E9016D0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DBAE6-5D6E-E998-C42B-96BA1B90356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F7F3C-B3EE-5539-FC70-B4ED23E4906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0DAA87-3DDB-2A45-BECE-F2A1D73E4FF0}"/>
              </a:ext>
            </a:extLst>
          </p:cNvPr>
          <p:cNvSpPr txBox="1"/>
          <p:nvPr/>
        </p:nvSpPr>
        <p:spPr>
          <a:xfrm>
            <a:off x="8344" y="1220546"/>
            <a:ext cx="5428284" cy="530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  <a:effectLst/>
                <a:latin typeface="+mn-lt"/>
                <a:ea typeface="MS Gothic" panose="020B0609070205080204" pitchFamily="49" charset="-128"/>
                <a:cs typeface="Times New Roman" panose="02020603050405020304" pitchFamily="18" charset="0"/>
              </a:rPr>
              <a:t>Advanced Query 6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6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Question: Find the five products with the highest total sales amount.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SQL Query: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SELECT *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FROM (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   SELECT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p.Product_ID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         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p.Product_Name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          SUM(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sa.Total_Amount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) AS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Total_Sales</a:t>
            </a:r>
            <a:endParaRPr lang="en-US" sz="1600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   FROM Product p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   JOIN Sale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sa</a:t>
            </a:r>
            <a:endParaRPr lang="en-US" sz="1600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       ON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p.Product_ID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sa.Product_ID</a:t>
            </a:r>
            <a:endParaRPr lang="en-US" sz="1600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   GROUP BY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p.Product_ID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p.Product_Name</a:t>
            </a:r>
            <a:endParaRPr lang="en-US" sz="1600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   ORDER BY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Total_Sales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DESC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WHERE ROWNUM &lt;= 5;</a:t>
            </a:r>
            <a:endParaRPr lang="en-US" sz="16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endParaRPr lang="en-US" sz="1600" dirty="0">
              <a:solidFill>
                <a:schemeClr val="accent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81D959-E596-18DC-81BB-6EAD65934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628" y="1220546"/>
            <a:ext cx="6564028" cy="4872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5E82A8-F5A0-53D7-7AF1-1C45A351504B}"/>
              </a:ext>
            </a:extLst>
          </p:cNvPr>
          <p:cNvSpPr txBox="1"/>
          <p:nvPr/>
        </p:nvSpPr>
        <p:spPr>
          <a:xfrm>
            <a:off x="5589639" y="840658"/>
            <a:ext cx="1830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20C6A-F2E4-83FA-8DB6-A8DCBAB4F8B7}"/>
              </a:ext>
            </a:extLst>
          </p:cNvPr>
          <p:cNvSpPr txBox="1"/>
          <p:nvPr/>
        </p:nvSpPr>
        <p:spPr>
          <a:xfrm>
            <a:off x="2722486" y="0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SQL Questions, Queries and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3254328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2D9FD-AAE1-B897-5FAA-5F65E56E3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3ED79-3A78-2CB9-8061-860378D26DF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7A497-0568-A377-B9EF-4F7F4C1F243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BBB7A-274C-99E1-DF27-A7C2CF261F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EB0A27-E298-2BED-20E7-F6986AB0BA9A}"/>
              </a:ext>
            </a:extLst>
          </p:cNvPr>
          <p:cNvSpPr txBox="1"/>
          <p:nvPr/>
        </p:nvSpPr>
        <p:spPr>
          <a:xfrm>
            <a:off x="0" y="1412776"/>
            <a:ext cx="45343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Advanced Query 7</a:t>
            </a:r>
          </a:p>
          <a:p>
            <a:r>
              <a:rPr lang="en-US" dirty="0"/>
              <a:t>Question: Find products whose price is greater than the overall average product price using a nested subquery.</a:t>
            </a:r>
          </a:p>
          <a:p>
            <a:r>
              <a:rPr lang="en-US" dirty="0">
                <a:solidFill>
                  <a:schemeClr val="accent1"/>
                </a:solidFill>
              </a:rPr>
              <a:t>SQL Query:</a:t>
            </a:r>
          </a:p>
          <a:p>
            <a:r>
              <a:rPr lang="en-US" dirty="0"/>
              <a:t>SELECT 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Product_Name</a:t>
            </a:r>
            <a:r>
              <a:rPr lang="en-US" dirty="0"/>
              <a:t>, Price</a:t>
            </a:r>
            <a:br>
              <a:rPr lang="en-US" dirty="0"/>
            </a:br>
            <a:r>
              <a:rPr lang="en-US" dirty="0"/>
              <a:t>FROM Product</a:t>
            </a:r>
            <a:br>
              <a:rPr lang="en-US" dirty="0"/>
            </a:br>
            <a:r>
              <a:rPr lang="en-US" dirty="0"/>
              <a:t>WHERE Price &gt; (SELECT AVG(Price) FROM Product)</a:t>
            </a:r>
            <a:br>
              <a:rPr lang="en-US" dirty="0"/>
            </a:br>
            <a:r>
              <a:rPr lang="en-US" dirty="0"/>
              <a:t>ORDER BY Price DESC;</a:t>
            </a:r>
          </a:p>
          <a:p>
            <a:r>
              <a:rPr lang="en-US" dirty="0">
                <a:solidFill>
                  <a:schemeClr val="accent1"/>
                </a:solidFill>
              </a:rPr>
              <a:t>Expected Output: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8121F-E8D2-D765-B29A-1E4C895F3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864" y="1412776"/>
            <a:ext cx="6696744" cy="39604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F01425-7B36-534D-7A32-5021E1B39C40}"/>
              </a:ext>
            </a:extLst>
          </p:cNvPr>
          <p:cNvSpPr txBox="1"/>
          <p:nvPr/>
        </p:nvSpPr>
        <p:spPr>
          <a:xfrm>
            <a:off x="2989289" y="105464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SQL Questions, Queries and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1517708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1B109-4F98-8DF3-CDD6-376B0027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88968-81A3-049E-7AA4-7FC7E361251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C47D0-DFE6-E80E-9242-B47FB49C029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50D6E-C40F-6057-B19C-C1799F7EFD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C9198-A76C-3FD5-9E62-742CFC2AAC9A}"/>
              </a:ext>
            </a:extLst>
          </p:cNvPr>
          <p:cNvSpPr txBox="1"/>
          <p:nvPr/>
        </p:nvSpPr>
        <p:spPr>
          <a:xfrm>
            <a:off x="191344" y="1196752"/>
            <a:ext cx="5256584" cy="5159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accent1"/>
                </a:solidFill>
                <a:effectLst/>
                <a:latin typeface="+mn-lt"/>
                <a:ea typeface="MS Gothic" panose="020B0609070205080204" pitchFamily="49" charset="-128"/>
                <a:cs typeface="Times New Roman" panose="02020603050405020304" pitchFamily="18" charset="0"/>
              </a:rPr>
              <a:t>Advanced Query 8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Question: Find products whose price is greater than the average price of other products in the same category using a correlated subquery.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SQL Query:</a:t>
            </a:r>
          </a:p>
          <a:p>
            <a:pPr marL="0" marR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p.Product_ID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p.Product_Name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p.Price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      (SELECT ROUND(AVG(p2.Price), 2)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       FROM Product p2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       WHERE p2.Category_ID =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p.Category_ID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) AS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Category_Avg_Price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FROM Product p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WHERE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p.Price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&gt;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     (SELECT AVG(p2.Price)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      FROM Product p2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      WHERE p2.Category_ID =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p.Category_ID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p.Price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DESC;</a:t>
            </a: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Expected Output:</a:t>
            </a:r>
            <a:endParaRPr lang="en-US" sz="1000" dirty="0">
              <a:solidFill>
                <a:schemeClr val="accent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77FA8D-4D47-911E-D68F-9ABDCD2D3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50" y="2624423"/>
            <a:ext cx="6960096" cy="23042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CAF1C-FE26-8F74-6ACF-339DBA5596A1}"/>
              </a:ext>
            </a:extLst>
          </p:cNvPr>
          <p:cNvSpPr txBox="1"/>
          <p:nvPr/>
        </p:nvSpPr>
        <p:spPr>
          <a:xfrm>
            <a:off x="2989289" y="39985"/>
            <a:ext cx="6213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SQL Questions, Queries and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332523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04B75-9583-71B2-CAB3-2192B0CB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CC3E9-4427-591E-A42F-453AAB4C1DB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8858C-89E7-2F2F-6DB5-F271E4355B9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7E956-F157-C056-7AC8-CF61A69450C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0C0435-76DC-4E51-9DA6-0B5066F965FB}"/>
              </a:ext>
            </a:extLst>
          </p:cNvPr>
          <p:cNvSpPr txBox="1"/>
          <p:nvPr/>
        </p:nvSpPr>
        <p:spPr>
          <a:xfrm>
            <a:off x="3215680" y="1196752"/>
            <a:ext cx="8282136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sz="2400" b="1" dirty="0">
                <a:solidFill>
                  <a:schemeClr val="accent1"/>
                </a:solidFill>
              </a:rPr>
              <a:t>Normalization in DBMS</a:t>
            </a:r>
          </a:p>
          <a:p>
            <a:endParaRPr lang="en-US" dirty="0"/>
          </a:p>
          <a:p>
            <a:r>
              <a:rPr lang="en-US" dirty="0"/>
              <a:t>Normalization is the process of organizing data into well-structured tables to:</a:t>
            </a:r>
          </a:p>
          <a:p>
            <a:pPr lvl="0"/>
            <a:r>
              <a:rPr lang="en-US" dirty="0"/>
              <a:t>Reduce data redundancy</a:t>
            </a:r>
          </a:p>
          <a:p>
            <a:pPr lvl="0"/>
            <a:r>
              <a:rPr lang="en-US" dirty="0"/>
              <a:t>Avoid data inconsistencies</a:t>
            </a:r>
          </a:p>
          <a:p>
            <a:pPr lvl="0"/>
            <a:r>
              <a:rPr lang="en-US" dirty="0"/>
              <a:t>Prevent insertion, update, and deletion anomalies</a:t>
            </a:r>
          </a:p>
          <a:p>
            <a:pPr lvl="0"/>
            <a:r>
              <a:rPr lang="en-US" dirty="0"/>
              <a:t>Improve data integrity</a:t>
            </a:r>
          </a:p>
          <a:p>
            <a:pPr lvl="0"/>
            <a:r>
              <a:rPr lang="en-US" dirty="0"/>
              <a:t>Make database maintenance easier</a:t>
            </a:r>
          </a:p>
          <a:p>
            <a:pPr lvl="0"/>
            <a:endParaRPr lang="en-US" dirty="0"/>
          </a:p>
          <a:p>
            <a:r>
              <a:rPr lang="en-US" sz="2400" b="1" dirty="0">
                <a:solidFill>
                  <a:schemeClr val="accent1"/>
                </a:solidFill>
              </a:rPr>
              <a:t>Why is Normalization Needed?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When related information is stored together unnecessarily, the same data may be repeated many times. This can create problems when inserting, updating, or deleting records.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CBDB19-B556-A789-3C91-90DBE42E9D0E}"/>
              </a:ext>
            </a:extLst>
          </p:cNvPr>
          <p:cNvSpPr txBox="1"/>
          <p:nvPr/>
        </p:nvSpPr>
        <p:spPr>
          <a:xfrm>
            <a:off x="3359696" y="0"/>
            <a:ext cx="6216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chemeClr val="accent1"/>
                </a:solidFill>
              </a:rPr>
              <a:t>Introduction to Normalization</a:t>
            </a:r>
          </a:p>
        </p:txBody>
      </p:sp>
    </p:spTree>
    <p:extLst>
      <p:ext uri="{BB962C8B-B14F-4D97-AF65-F5344CB8AC3E}">
        <p14:creationId xmlns:p14="http://schemas.microsoft.com/office/powerpoint/2010/main" val="39105394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43EC6-EFA5-DB64-D1EE-08D87634A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C3995-A315-7910-1C23-B264F1AD2D0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89AB-02BB-82FE-9F9B-4CE3537C297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50921-3185-275C-2F42-DD25CE4DAF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493300-7326-1195-9688-332290921D9B}"/>
              </a:ext>
            </a:extLst>
          </p:cNvPr>
          <p:cNvSpPr txBox="1"/>
          <p:nvPr/>
        </p:nvSpPr>
        <p:spPr>
          <a:xfrm>
            <a:off x="2567608" y="772871"/>
            <a:ext cx="8930208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Problems Caused by Poor Database Design</a:t>
            </a:r>
          </a:p>
          <a:p>
            <a:endParaRPr lang="en-US" b="1" dirty="0"/>
          </a:p>
          <a:p>
            <a:r>
              <a:rPr lang="en-US" sz="2000" b="1" dirty="0">
                <a:solidFill>
                  <a:schemeClr val="accent1"/>
                </a:solidFill>
              </a:rPr>
              <a:t>1. Insertion Anomaly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dirty="0"/>
              <a:t>Occurs when we cannot insert new information without adding unrelated information.</a:t>
            </a:r>
          </a:p>
          <a:p>
            <a:endParaRPr lang="en-US" dirty="0"/>
          </a:p>
          <a:p>
            <a:r>
              <a:rPr lang="en-US" sz="2000" b="1" dirty="0">
                <a:solidFill>
                  <a:schemeClr val="accent1"/>
                </a:solidFill>
              </a:rPr>
              <a:t>Example:</a:t>
            </a:r>
            <a:br>
              <a:rPr lang="en-US" dirty="0"/>
            </a:br>
            <a:r>
              <a:rPr lang="en-US" dirty="0"/>
              <a:t>A new supplier cannot be recorded unless a product is also entered.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2. Update Anomaly.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dirty="0"/>
              <a:t>Occurs when the same information is stored in multiple rows and must be changed everywhere.</a:t>
            </a:r>
          </a:p>
          <a:p>
            <a:endParaRPr lang="en-US" dirty="0"/>
          </a:p>
          <a:p>
            <a:r>
              <a:rPr lang="en-US" sz="2000" b="1" dirty="0">
                <a:solidFill>
                  <a:schemeClr val="accent1"/>
                </a:solidFill>
              </a:rPr>
              <a:t>Example:</a:t>
            </a:r>
            <a:br>
              <a:rPr lang="en-US" dirty="0"/>
            </a:br>
            <a:r>
              <a:rPr lang="en-US" dirty="0"/>
              <a:t>If a supplier's phone number appears in 10 product records, all 10 records must be updated.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3. Deletion Anomaly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dirty="0"/>
              <a:t>Occurs when deleting one record unintentionally removes other important information.</a:t>
            </a:r>
          </a:p>
          <a:p>
            <a:endParaRPr lang="en-US" dirty="0"/>
          </a:p>
          <a:p>
            <a:r>
              <a:rPr lang="en-US" sz="2000" b="1" dirty="0">
                <a:solidFill>
                  <a:schemeClr val="accent1"/>
                </a:solidFill>
              </a:rPr>
              <a:t>Example:</a:t>
            </a:r>
            <a:br>
              <a:rPr lang="en-US" dirty="0"/>
            </a:br>
            <a:r>
              <a:rPr lang="en-US" dirty="0"/>
              <a:t>If the only product supplied by a supplier is deleted, the supplier's information may also be lost.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C4A045-43D8-A484-4AE5-5BB90A1D84A2}"/>
              </a:ext>
            </a:extLst>
          </p:cNvPr>
          <p:cNvSpPr txBox="1"/>
          <p:nvPr/>
        </p:nvSpPr>
        <p:spPr>
          <a:xfrm>
            <a:off x="2915770" y="126540"/>
            <a:ext cx="6216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chemeClr val="accent1"/>
                </a:solidFill>
              </a:rPr>
              <a:t>Introduction to Normalization</a:t>
            </a:r>
          </a:p>
        </p:txBody>
      </p:sp>
    </p:spTree>
    <p:extLst>
      <p:ext uri="{BB962C8B-B14F-4D97-AF65-F5344CB8AC3E}">
        <p14:creationId xmlns:p14="http://schemas.microsoft.com/office/powerpoint/2010/main" val="27329476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AF514-29DB-D2A9-1351-D0AE7C12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4CE96-2F73-F05F-67FB-6A184CA397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8EC15-9DD4-4272-06B4-351A9A449D8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6C91A-4D7A-DA99-851C-9D2761DC22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1D205-4B75-0309-C722-BCE34856A9C1}"/>
              </a:ext>
            </a:extLst>
          </p:cNvPr>
          <p:cNvSpPr txBox="1"/>
          <p:nvPr/>
        </p:nvSpPr>
        <p:spPr>
          <a:xfrm>
            <a:off x="2942350" y="1239183"/>
            <a:ext cx="5729132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Normalization Process</a:t>
            </a:r>
          </a:p>
          <a:p>
            <a:endParaRPr lang="en-US" b="1" dirty="0"/>
          </a:p>
          <a:p>
            <a:r>
              <a:rPr lang="en-US" sz="2000" b="1" dirty="0">
                <a:solidFill>
                  <a:schemeClr val="accent1"/>
                </a:solidFill>
              </a:rPr>
              <a:t>Normalization Levels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1NF → 2NF → 3NF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1NF</a:t>
            </a:r>
            <a:endParaRPr lang="en-US" dirty="0">
              <a:solidFill>
                <a:schemeClr val="accent1"/>
              </a:solidFill>
            </a:endParaRPr>
          </a:p>
          <a:p>
            <a:pPr lvl="0"/>
            <a:r>
              <a:rPr lang="en-US" dirty="0"/>
              <a:t>Removes repeating groups</a:t>
            </a:r>
          </a:p>
          <a:p>
            <a:pPr lvl="0"/>
            <a:r>
              <a:rPr lang="en-US" dirty="0"/>
              <a:t>Ensures atomic values</a:t>
            </a:r>
          </a:p>
          <a:p>
            <a:pPr lvl="0"/>
            <a:r>
              <a:rPr lang="en-US" dirty="0"/>
              <a:t>Organizes data into relations</a:t>
            </a:r>
          </a:p>
          <a:p>
            <a:r>
              <a:rPr lang="en-US" dirty="0">
                <a:solidFill>
                  <a:schemeClr val="accent1"/>
                </a:solidFill>
              </a:rPr>
              <a:t>↓ </a:t>
            </a:r>
          </a:p>
          <a:p>
            <a:r>
              <a:rPr lang="en-US" b="1" dirty="0">
                <a:solidFill>
                  <a:schemeClr val="accent1"/>
                </a:solidFill>
              </a:rPr>
              <a:t>2NF</a:t>
            </a:r>
            <a:endParaRPr lang="en-US" dirty="0">
              <a:solidFill>
                <a:schemeClr val="accent1"/>
              </a:solidFill>
            </a:endParaRPr>
          </a:p>
          <a:p>
            <a:pPr lvl="0"/>
            <a:r>
              <a:rPr lang="en-US" dirty="0"/>
              <a:t>Removes partial dependencies</a:t>
            </a:r>
          </a:p>
          <a:p>
            <a:pPr lvl="0"/>
            <a:r>
              <a:rPr lang="en-US" dirty="0"/>
              <a:t>Ensures non-key attributes depend on the whole key</a:t>
            </a:r>
          </a:p>
          <a:p>
            <a:r>
              <a:rPr lang="en-US" dirty="0">
                <a:solidFill>
                  <a:schemeClr val="accent1"/>
                </a:solidFill>
              </a:rPr>
              <a:t>↓</a:t>
            </a:r>
          </a:p>
          <a:p>
            <a:r>
              <a:rPr lang="en-US" b="1" dirty="0">
                <a:solidFill>
                  <a:schemeClr val="accent1"/>
                </a:solidFill>
              </a:rPr>
              <a:t>3NF</a:t>
            </a:r>
            <a:endParaRPr lang="en-US" dirty="0">
              <a:solidFill>
                <a:schemeClr val="accent1"/>
              </a:solidFill>
            </a:endParaRPr>
          </a:p>
          <a:p>
            <a:pPr lvl="0"/>
            <a:r>
              <a:rPr lang="en-US" dirty="0"/>
              <a:t>Removes transitive dependencies</a:t>
            </a:r>
          </a:p>
          <a:p>
            <a:pPr lvl="0"/>
            <a:r>
              <a:rPr lang="en-US" dirty="0"/>
              <a:t>Ensures non-key attributes depend only on the primary key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A9EA9-610B-9D76-CD1A-993C34F588BA}"/>
              </a:ext>
            </a:extLst>
          </p:cNvPr>
          <p:cNvSpPr txBox="1"/>
          <p:nvPr/>
        </p:nvSpPr>
        <p:spPr>
          <a:xfrm>
            <a:off x="2915770" y="0"/>
            <a:ext cx="6216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chemeClr val="accent1"/>
                </a:solidFill>
              </a:rPr>
              <a:t>Introduction to Normalization</a:t>
            </a:r>
          </a:p>
        </p:txBody>
      </p:sp>
    </p:spTree>
    <p:extLst>
      <p:ext uri="{BB962C8B-B14F-4D97-AF65-F5344CB8AC3E}">
        <p14:creationId xmlns:p14="http://schemas.microsoft.com/office/powerpoint/2010/main" val="2168798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E1A0C-BE14-4BA6-FE22-C95B7FE84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BB4B9-21B6-3D5D-D58E-1F9972417F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DF53B-D05F-F47E-4E25-9AC21EF6ABA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E3496-7978-67BD-9F96-F56CE07645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3C5216-0BCD-B681-13DE-813CC1D1AF59}"/>
              </a:ext>
            </a:extLst>
          </p:cNvPr>
          <p:cNvSpPr txBox="1"/>
          <p:nvPr/>
        </p:nvSpPr>
        <p:spPr>
          <a:xfrm>
            <a:off x="4860083" y="144716"/>
            <a:ext cx="38568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NORMALIZATION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88D8D-B4FA-1ADB-FA8F-793E153EE530}"/>
              </a:ext>
            </a:extLst>
          </p:cNvPr>
          <p:cNvSpPr txBox="1"/>
          <p:nvPr/>
        </p:nvSpPr>
        <p:spPr>
          <a:xfrm>
            <a:off x="398206" y="1666568"/>
            <a:ext cx="8243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1NF BEFORE DECOMPOSTION DEMO:UNNORMALIZED RELATION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4AEAF-5D39-828D-6197-707EA38ABFE9}"/>
              </a:ext>
            </a:extLst>
          </p:cNvPr>
          <p:cNvSpPr txBox="1"/>
          <p:nvPr/>
        </p:nvSpPr>
        <p:spPr>
          <a:xfrm>
            <a:off x="3143672" y="959142"/>
            <a:ext cx="8848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1NF</a:t>
            </a:r>
            <a:r>
              <a:rPr lang="en-US" dirty="0"/>
              <a:t>: </a:t>
            </a:r>
            <a:r>
              <a:rPr lang="en-US" sz="2000" dirty="0"/>
              <a:t>show atomic values and remove repeating/multi-valued product information.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A116BB-057C-9AE8-4583-82BA5B0E2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2128234"/>
            <a:ext cx="11665296" cy="36599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CA76B2-A29D-BBB9-7C7C-FDB580A91D70}"/>
              </a:ext>
            </a:extLst>
          </p:cNvPr>
          <p:cNvSpPr txBox="1"/>
          <p:nvPr/>
        </p:nvSpPr>
        <p:spPr>
          <a:xfrm>
            <a:off x="119336" y="5878514"/>
            <a:ext cx="8987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Problem: </a:t>
            </a:r>
            <a:r>
              <a:rPr lang="en-US" dirty="0"/>
              <a:t>Supplier information is repeated whenever the same supplier has multiple products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462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A0679-443C-1D73-09DB-0A6451B0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15199-78C3-4F3B-5F05-9D87FFE53E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993BA-405E-A12F-40BC-020779E4652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A3A32-AB2B-409C-D122-16AF0C2285C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8EF8C-C3C1-F5B1-BBC1-03CD9D392D06}"/>
              </a:ext>
            </a:extLst>
          </p:cNvPr>
          <p:cNvSpPr txBox="1"/>
          <p:nvPr/>
        </p:nvSpPr>
        <p:spPr>
          <a:xfrm>
            <a:off x="4167587" y="26408"/>
            <a:ext cx="3856825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NORMALIZATION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1E859-DFC7-02C9-8141-9EFD3D836089}"/>
              </a:ext>
            </a:extLst>
          </p:cNvPr>
          <p:cNvSpPr txBox="1"/>
          <p:nvPr/>
        </p:nvSpPr>
        <p:spPr>
          <a:xfrm>
            <a:off x="0" y="1700808"/>
            <a:ext cx="2941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AFTER 1NF DECOMPOSITION: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DF73A-9A35-B420-C6A2-12CE73CB76B1}"/>
              </a:ext>
            </a:extLst>
          </p:cNvPr>
          <p:cNvSpPr txBox="1"/>
          <p:nvPr/>
        </p:nvSpPr>
        <p:spPr>
          <a:xfrm>
            <a:off x="3960" y="2276872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Supplier: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A295F6-1AFC-5E4C-8DF9-FBF78C064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" y="2636912"/>
            <a:ext cx="5076893" cy="37194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6468D2-9FFC-9AB2-B35D-5A454EB868ED}"/>
              </a:ext>
            </a:extLst>
          </p:cNvPr>
          <p:cNvSpPr txBox="1"/>
          <p:nvPr/>
        </p:nvSpPr>
        <p:spPr>
          <a:xfrm>
            <a:off x="5652892" y="2175247"/>
            <a:ext cx="1245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Product: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331AC0-E930-4AB4-5C84-D60E3FEA3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892" y="2678838"/>
            <a:ext cx="6539108" cy="367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51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DB4C-51D6-7502-45D6-7E71A27B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10FB0-DF73-94B9-1D3B-8430658B02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8E2BC-9D20-E3B4-30E4-EF7DAD63112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1038E-1929-126E-23D8-B3F3DBF861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38FF95-6199-15C2-01CA-06F6606B0B7C}"/>
              </a:ext>
            </a:extLst>
          </p:cNvPr>
          <p:cNvSpPr txBox="1"/>
          <p:nvPr/>
        </p:nvSpPr>
        <p:spPr>
          <a:xfrm>
            <a:off x="4367808" y="161199"/>
            <a:ext cx="38568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NORMALIZATION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E63B5-33E8-268D-E301-55B545D55EFE}"/>
              </a:ext>
            </a:extLst>
          </p:cNvPr>
          <p:cNvSpPr txBox="1"/>
          <p:nvPr/>
        </p:nvSpPr>
        <p:spPr>
          <a:xfrm>
            <a:off x="-10769" y="1484784"/>
            <a:ext cx="308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2NF BEFORE DECOMPOSITION: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203DB1-AEC1-B90F-5811-550CC7EED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70" y="1880971"/>
            <a:ext cx="11867409" cy="30960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68D5D9-811C-56D8-C04B-F26FF7B90EEF}"/>
              </a:ext>
            </a:extLst>
          </p:cNvPr>
          <p:cNvSpPr txBox="1"/>
          <p:nvPr/>
        </p:nvSpPr>
        <p:spPr>
          <a:xfrm>
            <a:off x="-10770" y="5188550"/>
            <a:ext cx="5177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Problem</a:t>
            </a:r>
            <a:r>
              <a:rPr lang="en-US" dirty="0" err="1"/>
              <a:t>:The</a:t>
            </a:r>
            <a:r>
              <a:rPr lang="en-US" dirty="0"/>
              <a:t> primary key is (</a:t>
            </a:r>
            <a:r>
              <a:rPr lang="en-US" dirty="0" err="1"/>
              <a:t>Supplier_ID</a:t>
            </a:r>
            <a:r>
              <a:rPr lang="en-US" dirty="0"/>
              <a:t>, </a:t>
            </a:r>
            <a:r>
              <a:rPr lang="en-US" dirty="0" err="1"/>
              <a:t>Product_ID</a:t>
            </a:r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A664F-9482-9723-6577-1D24883E6856}"/>
              </a:ext>
            </a:extLst>
          </p:cNvPr>
          <p:cNvSpPr txBox="1"/>
          <p:nvPr/>
        </p:nvSpPr>
        <p:spPr>
          <a:xfrm>
            <a:off x="3805084" y="1047135"/>
            <a:ext cx="3828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2NF</a:t>
            </a:r>
            <a:r>
              <a:rPr lang="en-US" dirty="0"/>
              <a:t>: 1NF + NO PARTIAL DEPENDENCY</a:t>
            </a:r>
          </a:p>
        </p:txBody>
      </p:sp>
    </p:spTree>
    <p:extLst>
      <p:ext uri="{BB962C8B-B14F-4D97-AF65-F5344CB8AC3E}">
        <p14:creationId xmlns:p14="http://schemas.microsoft.com/office/powerpoint/2010/main" val="10945318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06DD-A2C4-98D9-1CB7-EC4FBE63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96BA8-500A-D6AE-246B-9A7CD73511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73B15-38C2-FF39-1865-F826BEB3872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5F9CA-5246-5887-4D1C-A65CAB997E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1AA45F-1A8F-87CC-B782-68A3FE4EACB4}"/>
              </a:ext>
            </a:extLst>
          </p:cNvPr>
          <p:cNvSpPr txBox="1"/>
          <p:nvPr/>
        </p:nvSpPr>
        <p:spPr>
          <a:xfrm>
            <a:off x="-2099" y="1369923"/>
            <a:ext cx="4735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2NF AFTER DECOMPOSITION DEMO: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0999E8-052D-5904-A457-FEE264081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22" y="2627347"/>
            <a:ext cx="5234003" cy="37290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D98824-ED18-21CA-33F8-F292D4F53122}"/>
              </a:ext>
            </a:extLst>
          </p:cNvPr>
          <p:cNvSpPr txBox="1"/>
          <p:nvPr/>
        </p:nvSpPr>
        <p:spPr>
          <a:xfrm>
            <a:off x="0" y="2094271"/>
            <a:ext cx="184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Supplier_2NF: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9FF5D-7457-88CC-5C4D-7F5BAAE23FF5}"/>
              </a:ext>
            </a:extLst>
          </p:cNvPr>
          <p:cNvSpPr txBox="1"/>
          <p:nvPr/>
        </p:nvSpPr>
        <p:spPr>
          <a:xfrm>
            <a:off x="6023992" y="2199021"/>
            <a:ext cx="1469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Product_2NF: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68C951-EC6A-2551-485F-8DB492440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619" y="2627346"/>
            <a:ext cx="5937029" cy="36700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864BC7-BCC4-DADB-AF5A-C023A6958D1B}"/>
              </a:ext>
            </a:extLst>
          </p:cNvPr>
          <p:cNvSpPr txBox="1"/>
          <p:nvPr/>
        </p:nvSpPr>
        <p:spPr>
          <a:xfrm>
            <a:off x="3858381" y="4763"/>
            <a:ext cx="62164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NORMALIZATION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9085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F0E96-F90B-87B7-384F-A7578B06A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135B4-16A3-A413-1A4F-16E7891B7D2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BC9AD-DAE7-785D-5C74-B994F0C99B7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DC4F0-1A9F-061C-8986-5C249FA92C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37B015-A80E-3E93-B1D4-1BDB2B8A3499}"/>
              </a:ext>
            </a:extLst>
          </p:cNvPr>
          <p:cNvSpPr txBox="1"/>
          <p:nvPr/>
        </p:nvSpPr>
        <p:spPr>
          <a:xfrm>
            <a:off x="0" y="1700808"/>
            <a:ext cx="4050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3NF BEFORE DECOMPOSITION: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FF5C04-70E7-3844-22C8-42D2088F8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2473"/>
            <a:ext cx="11353800" cy="4193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E62ECA-20B5-EA42-945E-B29572961BEE}"/>
              </a:ext>
            </a:extLst>
          </p:cNvPr>
          <p:cNvSpPr txBox="1"/>
          <p:nvPr/>
        </p:nvSpPr>
        <p:spPr>
          <a:xfrm>
            <a:off x="3503712" y="19512"/>
            <a:ext cx="62164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NORMALIZATION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AC95AF-66D7-DA12-FB82-63958732132E}"/>
              </a:ext>
            </a:extLst>
          </p:cNvPr>
          <p:cNvSpPr txBox="1"/>
          <p:nvPr/>
        </p:nvSpPr>
        <p:spPr>
          <a:xfrm>
            <a:off x="3539613" y="1032387"/>
            <a:ext cx="4043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3NF: </a:t>
            </a:r>
            <a:r>
              <a:rPr lang="en-US" dirty="0"/>
              <a:t>2NF + NO TRANSITIVE DEPENDENCY</a:t>
            </a:r>
          </a:p>
        </p:txBody>
      </p:sp>
    </p:spTree>
    <p:extLst>
      <p:ext uri="{BB962C8B-B14F-4D97-AF65-F5344CB8AC3E}">
        <p14:creationId xmlns:p14="http://schemas.microsoft.com/office/powerpoint/2010/main" val="4299728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1ECB3-D08E-CDC6-EA07-EB0B68B1D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F8E6F-8400-1206-17B2-DD849BF853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6F100-3788-2DF1-4074-29F4F03F63C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2220E-2737-20D3-9BDB-C0B18305AA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AC1919-2ED5-3C38-46D6-75680AE9F444}"/>
              </a:ext>
            </a:extLst>
          </p:cNvPr>
          <p:cNvSpPr txBox="1"/>
          <p:nvPr/>
        </p:nvSpPr>
        <p:spPr>
          <a:xfrm>
            <a:off x="0" y="1340768"/>
            <a:ext cx="3873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3NF:AFTER DECOMPOSITION: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9AEBA-6BD0-7000-D419-929910023F8A}"/>
              </a:ext>
            </a:extLst>
          </p:cNvPr>
          <p:cNvSpPr txBox="1"/>
          <p:nvPr/>
        </p:nvSpPr>
        <p:spPr>
          <a:xfrm>
            <a:off x="3575720" y="0"/>
            <a:ext cx="62164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NORMALIZATION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CD67E2-FA1B-0DF2-B59D-2F9B87E9801C}"/>
              </a:ext>
            </a:extLst>
          </p:cNvPr>
          <p:cNvSpPr txBox="1"/>
          <p:nvPr/>
        </p:nvSpPr>
        <p:spPr>
          <a:xfrm>
            <a:off x="0" y="1787226"/>
            <a:ext cx="1360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Category</a:t>
            </a:r>
            <a:r>
              <a:rPr lang="en-US" dirty="0"/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A06FB7-CA05-BC6E-ACD5-6F92D422A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0912"/>
            <a:ext cx="3873304" cy="35489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BC30CF-F589-F77B-DD38-C7E18F28B1A1}"/>
              </a:ext>
            </a:extLst>
          </p:cNvPr>
          <p:cNvSpPr txBox="1"/>
          <p:nvPr/>
        </p:nvSpPr>
        <p:spPr>
          <a:xfrm>
            <a:off x="4151784" y="1787225"/>
            <a:ext cx="1226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Product</a:t>
            </a:r>
            <a:r>
              <a:rPr lang="en-US" dirty="0"/>
              <a:t>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CF2102-F769-CD05-1765-07CD880C3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784" y="2360912"/>
            <a:ext cx="7687185" cy="354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43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9C30B-9715-F377-10A8-643195D9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6D3C3-2A2A-F1CD-9D72-AF37E7922A8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FB0A-D3C6-0D62-D440-A8ED8171A5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649ED-E1F3-FA33-16EB-CDF8E9CB66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A61ED-8587-C20D-A8F0-F429ACE38FE1}"/>
              </a:ext>
            </a:extLst>
          </p:cNvPr>
          <p:cNvSpPr txBox="1"/>
          <p:nvPr/>
        </p:nvSpPr>
        <p:spPr>
          <a:xfrm>
            <a:off x="0" y="1700808"/>
            <a:ext cx="127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Supplier</a:t>
            </a:r>
            <a:r>
              <a:rPr lang="en-US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027D9B-E2EE-BA8A-B5A0-951EFC1E6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6873"/>
            <a:ext cx="9696400" cy="3456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C0C0EE-E1A5-DE5E-B06B-5EFA85B4EFAD}"/>
              </a:ext>
            </a:extLst>
          </p:cNvPr>
          <p:cNvSpPr txBox="1"/>
          <p:nvPr/>
        </p:nvSpPr>
        <p:spPr>
          <a:xfrm>
            <a:off x="3575720" y="0"/>
            <a:ext cx="62164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NORMALIZATION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025582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DDF90-1104-3678-8913-09459EBE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298E0-9245-1828-49BA-D58B6E0965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F05A2-962F-20F9-9829-D74EFFD2E6E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F1136-104D-7342-3086-2DCCBCEBCF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647361-DFBB-05EF-4E72-3DA44B816E5F}"/>
              </a:ext>
            </a:extLst>
          </p:cNvPr>
          <p:cNvSpPr txBox="1"/>
          <p:nvPr/>
        </p:nvSpPr>
        <p:spPr>
          <a:xfrm>
            <a:off x="3935760" y="0"/>
            <a:ext cx="49968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Two Entity ER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5D6AB3-A141-E8DD-7DDC-3132282AB2E1}"/>
              </a:ext>
            </a:extLst>
          </p:cNvPr>
          <p:cNvSpPr txBox="1"/>
          <p:nvPr/>
        </p:nvSpPr>
        <p:spPr>
          <a:xfrm>
            <a:off x="-27251" y="1412776"/>
            <a:ext cx="4679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chemeClr val="accent1"/>
                </a:solidFill>
              </a:rPr>
              <a:t>Title: Supplier-Product Relationship: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8572A-6B91-E7A2-0F10-96D2853AB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070" y="2071848"/>
            <a:ext cx="7885570" cy="42845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0E6702-5410-1FB8-0601-91FB566D0677}"/>
              </a:ext>
            </a:extLst>
          </p:cNvPr>
          <p:cNvSpPr txBox="1"/>
          <p:nvPr/>
        </p:nvSpPr>
        <p:spPr>
          <a:xfrm>
            <a:off x="0" y="2492896"/>
            <a:ext cx="35262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Relationship: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SUPPLIES</a:t>
            </a:r>
            <a:br>
              <a:rPr lang="en-US" dirty="0"/>
            </a:br>
            <a:r>
              <a:rPr lang="en-US" b="1" dirty="0">
                <a:solidFill>
                  <a:schemeClr val="accent1"/>
                </a:solidFill>
              </a:rPr>
              <a:t>Cardinality: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1:M</a:t>
            </a:r>
            <a:br>
              <a:rPr lang="en-US" dirty="0"/>
            </a:br>
            <a:r>
              <a:rPr lang="en-US" dirty="0"/>
              <a:t>One supplier can supply many products, while each product is associated with one supplier.</a:t>
            </a:r>
          </a:p>
        </p:txBody>
      </p:sp>
    </p:spTree>
    <p:extLst>
      <p:ext uri="{BB962C8B-B14F-4D97-AF65-F5344CB8AC3E}">
        <p14:creationId xmlns:p14="http://schemas.microsoft.com/office/powerpoint/2010/main" val="36175104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61A9-7B0B-9D91-1F5D-A8A813F2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236A8-B0C6-A9D1-7D08-0CDF897DFB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470F4-B28A-AEC1-D5D6-0327E9052D0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006F8-35E7-66CC-1481-4727F7191B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31C0AE-71BF-A0CD-67F1-7C1F4B89BD01}"/>
              </a:ext>
            </a:extLst>
          </p:cNvPr>
          <p:cNvSpPr txBox="1"/>
          <p:nvPr/>
        </p:nvSpPr>
        <p:spPr>
          <a:xfrm>
            <a:off x="-78129" y="1700808"/>
            <a:ext cx="3562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SQL Tables from ER Design: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760CE-9E51-1413-3124-51FB4B76D58A}"/>
              </a:ext>
            </a:extLst>
          </p:cNvPr>
          <p:cNvSpPr txBox="1"/>
          <p:nvPr/>
        </p:nvSpPr>
        <p:spPr>
          <a:xfrm>
            <a:off x="3483936" y="0"/>
            <a:ext cx="62164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Two Entity ER Diagram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1480AA-8ED0-760F-110D-72A5528DA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642411"/>
              </p:ext>
            </p:extLst>
          </p:nvPr>
        </p:nvGraphicFramePr>
        <p:xfrm>
          <a:off x="3483936" y="1532995"/>
          <a:ext cx="8708064" cy="4862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4032">
                  <a:extLst>
                    <a:ext uri="{9D8B030D-6E8A-4147-A177-3AD203B41FA5}">
                      <a16:colId xmlns:a16="http://schemas.microsoft.com/office/drawing/2014/main" val="3387470805"/>
                    </a:ext>
                  </a:extLst>
                </a:gridCol>
                <a:gridCol w="4354032">
                  <a:extLst>
                    <a:ext uri="{9D8B030D-6E8A-4147-A177-3AD203B41FA5}">
                      <a16:colId xmlns:a16="http://schemas.microsoft.com/office/drawing/2014/main" val="2823287812"/>
                    </a:ext>
                  </a:extLst>
                </a:gridCol>
              </a:tblGrid>
              <a:tr h="48627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CREATE TABLE Supplier</a:t>
                      </a:r>
                    </a:p>
                    <a:p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 (</a:t>
                      </a:r>
                    </a:p>
                    <a:p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    </a:t>
                      </a:r>
                      <a:r>
                        <a:rPr lang="en-US" dirty="0" err="1">
                          <a:solidFill>
                            <a:schemeClr val="accent4"/>
                          </a:solidFill>
                        </a:rPr>
                        <a:t>Supplier_ID</a:t>
                      </a:r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 NUMBER(5) PRIMARY KEY,</a:t>
                      </a:r>
                    </a:p>
                    <a:p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    </a:t>
                      </a:r>
                      <a:r>
                        <a:rPr lang="en-US" dirty="0" err="1">
                          <a:solidFill>
                            <a:schemeClr val="accent4"/>
                          </a:solidFill>
                        </a:rPr>
                        <a:t>Supplier_Name</a:t>
                      </a:r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 VARCHAR2(80) NOT NULL,</a:t>
                      </a:r>
                    </a:p>
                    <a:p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    </a:t>
                      </a:r>
                      <a:r>
                        <a:rPr lang="en-US" dirty="0" err="1">
                          <a:solidFill>
                            <a:schemeClr val="accent4"/>
                          </a:solidFill>
                        </a:rPr>
                        <a:t>Contact_NO</a:t>
                      </a:r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 VARCHAR2(15) NOT NULL UNIQUE,</a:t>
                      </a:r>
                    </a:p>
                    <a:p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    Email VARCHAR2(100) NOT NULL UNIQUE</a:t>
                      </a:r>
                    </a:p>
                    <a:p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CREATE TABLE Product</a:t>
                      </a:r>
                    </a:p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(</a:t>
                      </a:r>
                    </a:p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   </a:t>
                      </a:r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Product_ID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NUMBER(5) PRIMARY KEY,</a:t>
                      </a:r>
                    </a:p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   </a:t>
                      </a:r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Product_Name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VARCHAR2(100) NOT NULL,</a:t>
                      </a:r>
                    </a:p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   </a:t>
                      </a:r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Category_ID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NUMBER(5) NOT NULL,</a:t>
                      </a:r>
                    </a:p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   </a:t>
                      </a:r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Supplier_ID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NUMBER(5) NOT NULL,</a:t>
                      </a:r>
                    </a:p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   Price NUMBER(10,2) NOT NULL,</a:t>
                      </a:r>
                    </a:p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   </a:t>
                      </a:r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Stock_Quantity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NUMBER(10) NOT NULL,</a:t>
                      </a:r>
                    </a:p>
                    <a:p>
                      <a:endParaRPr lang="en-US" dirty="0">
                        <a:solidFill>
                          <a:srgbClr val="FFFF00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   FOREIGN KEY (</a:t>
                      </a:r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Supplier_ID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)</a:t>
                      </a:r>
                    </a:p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        REFERENCES Supplier(</a:t>
                      </a:r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Supplier_ID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)</a:t>
                      </a:r>
                    </a:p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771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89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47E0B-432A-29A6-4A2F-61696688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00497-28D9-4F62-6BC8-AE692B1311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52F0A-9051-A47D-6386-DECF459D1F8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4294B-DFD0-D5ED-9BD1-3C5FBAF3BF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D8986-E8A6-6CF1-82AD-292F3895CB21}"/>
              </a:ext>
            </a:extLst>
          </p:cNvPr>
          <p:cNvSpPr txBox="1"/>
          <p:nvPr/>
        </p:nvSpPr>
        <p:spPr>
          <a:xfrm>
            <a:off x="-365" y="1772816"/>
            <a:ext cx="343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Example: Output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60AFD1-0A70-6B19-A5CE-7A627AB84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814870"/>
              </p:ext>
            </p:extLst>
          </p:nvPr>
        </p:nvGraphicFramePr>
        <p:xfrm>
          <a:off x="10098" y="2506804"/>
          <a:ext cx="8128000" cy="356418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808610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802154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824485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64308697"/>
                    </a:ext>
                  </a:extLst>
                </a:gridCol>
              </a:tblGrid>
              <a:tr h="754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Supplier_ID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Supplier_Name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2281844"/>
                  </a:ext>
                </a:extLst>
              </a:tr>
              <a:tr h="754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CompGear India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Wireless 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866897"/>
                  </a:ext>
                </a:extLst>
              </a:tr>
              <a:tr h="1301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CompGear</a:t>
                      </a:r>
                      <a:r>
                        <a:rPr lang="en-US" dirty="0"/>
                        <a:t> India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Mechanical Keyboard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235938"/>
                  </a:ext>
                </a:extLst>
              </a:tr>
              <a:tr h="754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CompGear India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USB-C 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9804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1D4D6FC-FD3C-B54E-0E42-D59164F68446}"/>
              </a:ext>
            </a:extLst>
          </p:cNvPr>
          <p:cNvSpPr txBox="1"/>
          <p:nvPr/>
        </p:nvSpPr>
        <p:spPr>
          <a:xfrm>
            <a:off x="3180358" y="43148"/>
            <a:ext cx="62164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Two Entity ER Diagram</a:t>
            </a:r>
          </a:p>
        </p:txBody>
      </p:sp>
    </p:spTree>
    <p:extLst>
      <p:ext uri="{BB962C8B-B14F-4D97-AF65-F5344CB8AC3E}">
        <p14:creationId xmlns:p14="http://schemas.microsoft.com/office/powerpoint/2010/main" val="18883921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C2A40E-31AF-EF64-4C23-29B23BF89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300" b="1" dirty="0"/>
              <a:t>Advantages</a:t>
            </a:r>
          </a:p>
          <a:p>
            <a:r>
              <a:rPr lang="en-IN" dirty="0"/>
              <a:t>Reduces manual inventory work.</a:t>
            </a:r>
          </a:p>
          <a:p>
            <a:r>
              <a:rPr lang="en-IN" dirty="0"/>
              <a:t>Prevents duplicate records.</a:t>
            </a:r>
          </a:p>
          <a:p>
            <a:r>
              <a:rPr lang="en-IN" dirty="0"/>
              <a:t>Makes product searching faster.</a:t>
            </a:r>
          </a:p>
          <a:p>
            <a:r>
              <a:rPr lang="en-IN" dirty="0"/>
              <a:t>Tracks  sales efficiently.</a:t>
            </a:r>
          </a:p>
          <a:p>
            <a:r>
              <a:rPr lang="en-IN" dirty="0"/>
              <a:t>Improves supplier management.</a:t>
            </a:r>
          </a:p>
          <a:p>
            <a:r>
              <a:rPr lang="en-IN" dirty="0"/>
              <a:t>Provides reliable inventory reports.</a:t>
            </a:r>
          </a:p>
          <a:p>
            <a:r>
              <a:rPr lang="en-IN" dirty="0"/>
              <a:t>Maintains data integrity through DBMS constraints.</a:t>
            </a:r>
            <a:br>
              <a:rPr lang="en-IN" dirty="0"/>
            </a:b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3C9841-B183-27CF-E77E-0C9FE8B141A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93CDA-636D-11BE-055C-94ABE55D802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AE4FE-BAF9-5BC2-1ED2-862BCAE1E26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36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37C422-0B71-84D4-1D47-584D6C1D4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b="1" dirty="0"/>
              <a:t>Conclusion</a:t>
            </a:r>
          </a:p>
          <a:p>
            <a:r>
              <a:rPr lang="en-IN" dirty="0"/>
              <a:t>The </a:t>
            </a:r>
            <a:r>
              <a:rPr lang="en-IN" b="1" dirty="0"/>
              <a:t>Inventory Management System</a:t>
            </a:r>
            <a:r>
              <a:rPr lang="en-IN" dirty="0"/>
              <a:t> provides a centralized database for managing products, suppliers, customers and transactions.</a:t>
            </a:r>
          </a:p>
          <a:p>
            <a:r>
              <a:rPr lang="en-IN" dirty="0"/>
              <a:t>DBMS ensures data consistency, integrity and easy retrieval.</a:t>
            </a:r>
          </a:p>
          <a:p>
            <a:r>
              <a:rPr lang="en-IN" dirty="0"/>
              <a:t>SQL queries provide useful inventory reports and analysis.</a:t>
            </a:r>
          </a:p>
          <a:p>
            <a:r>
              <a:rPr lang="en-IN" dirty="0"/>
              <a:t>The system reduces manual effort and improves overall inventory management.</a:t>
            </a:r>
          </a:p>
          <a:p>
            <a:r>
              <a:rPr lang="en-IN" dirty="0"/>
              <a:t>Sales records help maintain accurate </a:t>
            </a:r>
            <a:r>
              <a:rPr lang="en-IN"/>
              <a:t>transaction records</a:t>
            </a:r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A707FB-221B-5F43-67B6-17F4D458BA2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01-10-2026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F7DC04-E98C-9C76-685C-6334B0A2A1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7F614-1A0D-E9ED-6C7D-EC8E77A51F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597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</a:t>
            </a:r>
            <a:r>
              <a:rPr lang="en-US" sz="7200" b="1" spc="-50" dirty="0" err="1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Youuuuu</a:t>
            </a:r>
            <a:endParaRPr lang="en-US" sz="7200" b="1" spc="-50" dirty="0">
              <a:solidFill>
                <a:schemeClr val="accent1">
                  <a:lumMod val="75000"/>
                </a:schemeClr>
              </a:solidFill>
              <a:latin typeface="Maiandra GD" pitchFamily="34" charset="0"/>
            </a:endParaRPr>
          </a:p>
        </p:txBody>
      </p:sp>
      <p:sp>
        <p:nvSpPr>
          <p:cNvPr id="17" name="Subtitle 2"/>
          <p:cNvSpPr txBox="1">
            <a:spLocks/>
          </p:cNvSpPr>
          <p:nvPr/>
        </p:nvSpPr>
        <p:spPr>
          <a:xfrm>
            <a:off x="1595406" y="4400000"/>
            <a:ext cx="9215502" cy="6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400" i="1" dirty="0">
                <a:solidFill>
                  <a:srgbClr val="595959"/>
                </a:solidFill>
                <a:latin typeface="Tw Cen MT" pitchFamily="34" charset="0"/>
              </a:rPr>
              <a:t>Questions welcome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01-10-2026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 dirty="0"/>
              <a:t>DBMS Cornerstone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7130</TotalTime>
  <Words>3242</Words>
  <Application>Microsoft Office PowerPoint</Application>
  <PresentationFormat>Widescreen</PresentationFormat>
  <Paragraphs>488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MS Mincho</vt:lpstr>
      <vt:lpstr>Arial</vt:lpstr>
      <vt:lpstr>Calibri</vt:lpstr>
      <vt:lpstr>Calibri Light</vt:lpstr>
      <vt:lpstr>Maiandra GD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Panashe Ncube</cp:lastModifiedBy>
  <cp:revision>724</cp:revision>
  <cp:lastPrinted>2023-06-09T04:58:36Z</cp:lastPrinted>
  <dcterms:created xsi:type="dcterms:W3CDTF">2019-12-14T03:50:52Z</dcterms:created>
  <dcterms:modified xsi:type="dcterms:W3CDTF">2026-10-01T04:48:22Z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2026-09-30T15:12:39Z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42804ae1-d2e9-40b7-a4a3-45811234298b</vt:lpwstr>
  </property>
  <property fmtid="{D5CDD505-2E9C-101B-9397-08002B2CF9AE}" pid="7" name="MSIP_Label_defa4170-0d19-0005-0004-bc88714345d2_ActionId">
    <vt:lpwstr>b6d4150b-e7f0-49f2-9526-edeeec41d386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